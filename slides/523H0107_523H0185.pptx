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29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14313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20219" y="214313"/>
            <a:ext cx="1938031" cy="25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193" b="1">
                <a:solidFill>
                  <a:srgbClr val="2C3E50"/>
                </a:solidFill>
              </a:rPr>
              <a:t>Nguyễn Minh Triết </a:t>
            </a:r>
            <a:r>
              <a:rPr lang="en-US" sz="1193" b="1" dirty="0">
                <a:solidFill>
                  <a:srgbClr val="2C3E50"/>
                </a:solidFill>
              </a:rPr>
              <a:t>- 523H0107</a:t>
            </a:r>
            <a:endParaRPr lang="en-US" sz="1193" dirty="0"/>
          </a:p>
        </p:txBody>
      </p:sp>
      <p:sp>
        <p:nvSpPr>
          <p:cNvPr id="5" name="Text 1"/>
          <p:cNvSpPr/>
          <p:nvPr/>
        </p:nvSpPr>
        <p:spPr>
          <a:xfrm>
            <a:off x="6926631" y="488621"/>
            <a:ext cx="1931619" cy="251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193" b="1">
                <a:solidFill>
                  <a:srgbClr val="2C3E50"/>
                </a:solidFill>
              </a:rPr>
              <a:t>Nguyễn Phúc Toàn </a:t>
            </a:r>
            <a:r>
              <a:rPr lang="en-US" sz="1193" b="1" dirty="0">
                <a:solidFill>
                  <a:srgbClr val="2C3E50"/>
                </a:solidFill>
              </a:rPr>
              <a:t>- 523H0185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6682525" y="848655"/>
            <a:ext cx="2175725" cy="254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Instructor: Dr</a:t>
            </a:r>
            <a:r>
              <a:rPr lang="en-US" sz="1269">
                <a:solidFill>
                  <a:srgbClr val="2C3E50"/>
                </a:solidFill>
              </a:rPr>
              <a:t>. Tran Thi Thanh Diu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1357313" y="1531665"/>
            <a:ext cx="6429375" cy="2080171"/>
          </a:xfrm>
          <a:prstGeom prst="rect">
            <a:avLst/>
          </a:prstGeom>
          <a:noFill/>
          <a:ln/>
        </p:spPr>
        <p:txBody>
          <a:bodyPr wrap="square" lIns="510286" tIns="0" rIns="510286" bIns="0" rtlCol="0" anchor="t">
            <a:spAutoFit/>
          </a:bodyPr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2862" b="1" dirty="0">
                <a:solidFill>
                  <a:srgbClr val="1A5490"/>
                </a:solidFill>
              </a:rPr>
              <a:t>A Study of Salaries in Artificial Intelligence, Machine Learning and Data Science Globally</a:t>
            </a:r>
            <a:endParaRPr lang="en-US" sz="286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Dataset Overview: Global AI/ML/Data Science Salaries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78681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Dataset Source: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1264444"/>
            <a:ext cx="8286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Kaggle:</a:t>
            </a:r>
            <a:r>
              <a:rPr lang="en-US" sz="1269" dirty="0">
                <a:solidFill>
                  <a:srgbClr val="2C3E50"/>
                </a:solidFill>
              </a:rPr>
              <a:t> "Global Salaries in AI, ML &amp; Data Science"
</a:t>
            </a:r>
            <a:r>
              <a:rPr lang="en-US" sz="1193" b="1" dirty="0">
                <a:solidFill>
                  <a:srgbClr val="2C3E50"/>
                </a:solidFill>
              </a:rPr>
              <a:t>Time Period:</a:t>
            </a:r>
            <a:r>
              <a:rPr lang="en-US" sz="1269" dirty="0">
                <a:solidFill>
                  <a:srgbClr val="2C3E50"/>
                </a:solidFill>
              </a:rPr>
              <a:t> 2020-2024 (captures COVID-19 impact and post-pandemic trends)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955936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Characteristics: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00075" y="2363130"/>
            <a:ext cx="38826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Records: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00075" y="2666740"/>
            <a:ext cx="23363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16,185 salary entries globally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832747" y="2363130"/>
            <a:ext cx="38826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Features: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832747" y="2666740"/>
            <a:ext cx="32146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11 columns covering demographics and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832747" y="2923915"/>
            <a:ext cx="11485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compensation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600075" y="3348968"/>
            <a:ext cx="38826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Coverage: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600075" y="3652577"/>
            <a:ext cx="31642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Multiple countries with USD conversion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4832747" y="3348968"/>
            <a:ext cx="38826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Focus: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832747" y="3652577"/>
            <a:ext cx="3090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AI, ML, and Data Science professionals</a:t>
            </a:r>
            <a:endParaRPr lang="en-US" sz="12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Dataset Structure (Part 1 of 2)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78681"/>
            <a:ext cx="8286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The dataset contains 11 features. First 6 features: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278731"/>
            <a:ext cx="2320268" cy="392906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78731"/>
            <a:ext cx="2320268" cy="392906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Feature</a:t>
            </a:r>
            <a:endParaRPr lang="en-US" sz="1295" dirty="0"/>
          </a:p>
        </p:txBody>
      </p:sp>
      <p:sp>
        <p:nvSpPr>
          <p:cNvPr id="7" name="Shape 4"/>
          <p:cNvSpPr/>
          <p:nvPr/>
        </p:nvSpPr>
        <p:spPr>
          <a:xfrm>
            <a:off x="2748893" y="1278731"/>
            <a:ext cx="5966482" cy="392906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8" name="Text 5"/>
          <p:cNvSpPr/>
          <p:nvPr/>
        </p:nvSpPr>
        <p:spPr>
          <a:xfrm>
            <a:off x="2748893" y="1278731"/>
            <a:ext cx="5966482" cy="392906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Description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28625" y="1671638"/>
            <a:ext cx="2320268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work_year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748893" y="1671638"/>
            <a:ext cx="5966482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Year of salary payment (2020-2024)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2033095"/>
            <a:ext cx="2320268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experience_level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748893" y="2033095"/>
            <a:ext cx="5966482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Entry, Mid, Senior, Executive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28625" y="2401695"/>
            <a:ext cx="2320268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employment_type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748893" y="2401695"/>
            <a:ext cx="5966482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Full-time, Part-time, Contract, Freelance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28625" y="2770296"/>
            <a:ext cx="2320268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job_title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748893" y="2770296"/>
            <a:ext cx="5966482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Specific role (e.g., Data Scientist, ML Engineer)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28625" y="3138897"/>
            <a:ext cx="2320268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salary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748893" y="3138897"/>
            <a:ext cx="5966482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Gross salary in original currency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28625" y="3507498"/>
            <a:ext cx="2320268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salary_currency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748893" y="3507498"/>
            <a:ext cx="5966482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Currency code (e.g., USD, EUR, GBP)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Dataset Structure (Part 2 of 2)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78681"/>
            <a:ext cx="8286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Remaining 5 features: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428625" y="1278731"/>
            <a:ext cx="2486025" cy="392906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78731"/>
            <a:ext cx="2486025" cy="392906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Feature</a:t>
            </a:r>
            <a:endParaRPr lang="en-US" sz="1295" dirty="0"/>
          </a:p>
        </p:txBody>
      </p:sp>
      <p:sp>
        <p:nvSpPr>
          <p:cNvPr id="7" name="Shape 4"/>
          <p:cNvSpPr/>
          <p:nvPr/>
        </p:nvSpPr>
        <p:spPr>
          <a:xfrm>
            <a:off x="2914650" y="1278731"/>
            <a:ext cx="5800725" cy="392906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8" name="Text 5"/>
          <p:cNvSpPr/>
          <p:nvPr/>
        </p:nvSpPr>
        <p:spPr>
          <a:xfrm>
            <a:off x="2914650" y="1278731"/>
            <a:ext cx="5800725" cy="392906"/>
          </a:xfrm>
          <a:prstGeom prst="rect">
            <a:avLst/>
          </a:prstGeom>
          <a:noFill/>
          <a:ln/>
        </p:spPr>
        <p:txBody>
          <a:bodyPr wrap="none" lIns="170053" tIns="127508" rIns="170053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Description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28625" y="1671638"/>
            <a:ext cx="2486025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salary_in_usd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914650" y="1671638"/>
            <a:ext cx="5800725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Salary converted to USD (target variable)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2033095"/>
            <a:ext cx="24860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employee_residence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2914650" y="2033095"/>
            <a:ext cx="58007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Country where employee resides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28625" y="2401695"/>
            <a:ext cx="24860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remote_ratio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914650" y="2401695"/>
            <a:ext cx="58007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0% (on-site), 50% (hybrid), 100% (remote)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28625" y="2770296"/>
            <a:ext cx="24860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company_location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2914650" y="2770296"/>
            <a:ext cx="5800725" cy="368601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Country where company is located</a:t>
            </a:r>
            <a:endParaRPr lang="en-US" sz="1269" dirty="0"/>
          </a:p>
        </p:txBody>
      </p:sp>
      <p:sp>
        <p:nvSpPr>
          <p:cNvPr id="17" name="Text 14"/>
          <p:cNvSpPr/>
          <p:nvPr/>
        </p:nvSpPr>
        <p:spPr>
          <a:xfrm>
            <a:off x="428625" y="3138897"/>
            <a:ext cx="2486025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company_size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2914650" y="3138897"/>
            <a:ext cx="5800725" cy="361457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Small, Medium, Large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28625" y="3714666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Central Research Question: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428625" y="4121860"/>
            <a:ext cx="8286750" cy="55721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i="1" dirty="0">
                <a:solidFill>
                  <a:srgbClr val="2C3E50"/>
                </a:solidFill>
              </a:rPr>
              <a:t>Does working fully remotely correlate to a higher salary than on-site or hybrid work in the AI/ML/Data Science field?</a:t>
            </a:r>
            <a:endParaRPr lang="en-US" sz="129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Data Cleaning Process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914400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Initial Data Quality Checks: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42938" y="1464469"/>
            <a:ext cx="362545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1. Missing Values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642938" y="1814513"/>
            <a:ext cx="3625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No missing values detected across all 11 features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911328" y="1464469"/>
            <a:ext cx="362545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2. Duplicate Records</a:t>
            </a:r>
            <a:endParaRPr lang="en-US" sz="1295" dirty="0"/>
          </a:p>
        </p:txBody>
      </p:sp>
      <p:sp>
        <p:nvSpPr>
          <p:cNvPr id="8" name="Text 5"/>
          <p:cNvSpPr/>
          <p:nvPr/>
        </p:nvSpPr>
        <p:spPr>
          <a:xfrm>
            <a:off x="4911328" y="1814513"/>
            <a:ext cx="3625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Identified and removed duplicate salary entries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642938" y="2721769"/>
            <a:ext cx="362545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3. Data Types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642938" y="3071813"/>
            <a:ext cx="3625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Verified appropriate types for numerical and categorical features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911328" y="2721769"/>
            <a:ext cx="362545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4. Outlier Detection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4911328" y="3071813"/>
            <a:ext cx="362545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Applied MAD (Median Absolute Deviation) method for robust identification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28625" y="397192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7AE60"/>
                </a:solidFill>
              </a:rPr>
              <a:t>Cleaning Results: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428625" y="4357688"/>
            <a:ext cx="828675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Original records:</a:t>
            </a:r>
            <a:r>
              <a:rPr lang="en-US" sz="1269" dirty="0">
                <a:solidFill>
                  <a:srgbClr val="2C3E50"/>
                </a:solidFill>
              </a:rPr>
              <a:t> 16,185 entries → </a:t>
            </a:r>
            <a:r>
              <a:rPr lang="en-US" sz="1193" b="1" dirty="0">
                <a:solidFill>
                  <a:srgbClr val="1A5490"/>
                </a:solidFill>
              </a:rPr>
              <a:t>Clean records:</a:t>
            </a:r>
            <a:r>
              <a:rPr lang="en-US" sz="1269" dirty="0">
                <a:solidFill>
                  <a:srgbClr val="2C3E50"/>
                </a:solidFill>
              </a:rPr>
              <a:t> 15,663 entries after removing duplicates and outliers</a:t>
            </a:r>
            <a:endParaRPr lang="en-US" sz="119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Feature Engineering and Transformations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42963"/>
            <a:ext cx="8286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Data Transformation Techniques: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42938" y="1228725"/>
            <a:ext cx="78938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1. Ordinal Encoding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642938" y="1550194"/>
            <a:ext cx="7893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Applied to ordered categorical variables with natural ranking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42938" y="1807369"/>
            <a:ext cx="7893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i="1" dirty="0">
                <a:solidFill>
                  <a:srgbClr val="27AE60"/>
                </a:solidFill>
              </a:rPr>
              <a:t>experience_level: Entry → Mid → Senior → Executive
 company_size: Small → Medium → Large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42938" y="2421731"/>
            <a:ext cx="78938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2. One-Hot Encoding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642938" y="2743200"/>
            <a:ext cx="7893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Applied to nominal categorical variables without inherent order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642938" y="3000375"/>
            <a:ext cx="7893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i="1" dirty="0">
                <a:solidFill>
                  <a:srgbClr val="27AE60"/>
                </a:solidFill>
              </a:rPr>
              <a:t>job_title, company_location, employee_residence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642938" y="3386138"/>
            <a:ext cx="78938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3. Log Transformation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42938" y="3707606"/>
            <a:ext cx="7893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Applied to salary_in_usd to reduce right skewness and normalize distribution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642938" y="3964781"/>
            <a:ext cx="78938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i="1" dirty="0">
                <a:solidFill>
                  <a:srgbClr val="27AE60"/>
                </a:solidFill>
              </a:rPr>
              <a:t>log(salary_in_usd) for improved statistical modeling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28625" y="4279106"/>
            <a:ext cx="8286750" cy="571500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Result:</a:t>
            </a:r>
            <a:r>
              <a:rPr lang="en-US" sz="1269" dirty="0">
                <a:solidFill>
                  <a:srgbClr val="2C3E50"/>
                </a:solidFill>
              </a:rPr>
              <a:t> Dataset ready for statistical testing, correlation analysis, and regression modeling with properly encoded features</a:t>
            </a:r>
            <a:endParaRPr lang="en-US" sz="119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Descriptive Statistics Summary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842963"/>
            <a:ext cx="2071688" cy="37147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42963"/>
            <a:ext cx="2071688" cy="371475"/>
          </a:xfrm>
          <a:prstGeom prst="rect">
            <a:avLst/>
          </a:prstGeom>
          <a:noFill/>
          <a:ln/>
        </p:spPr>
        <p:txBody>
          <a:bodyPr wrap="none" lIns="153035" tIns="102108" rIns="153035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Statistic</a:t>
            </a:r>
            <a:endParaRPr lang="en-US" sz="1295" dirty="0"/>
          </a:p>
        </p:txBody>
      </p:sp>
      <p:sp>
        <p:nvSpPr>
          <p:cNvPr id="6" name="Shape 3"/>
          <p:cNvSpPr/>
          <p:nvPr/>
        </p:nvSpPr>
        <p:spPr>
          <a:xfrm>
            <a:off x="2500313" y="842963"/>
            <a:ext cx="2071688" cy="37147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7" name="Text 4"/>
          <p:cNvSpPr/>
          <p:nvPr/>
        </p:nvSpPr>
        <p:spPr>
          <a:xfrm>
            <a:off x="2500313" y="842963"/>
            <a:ext cx="2071688" cy="371475"/>
          </a:xfrm>
          <a:prstGeom prst="rect">
            <a:avLst/>
          </a:prstGeom>
          <a:noFill/>
          <a:ln/>
        </p:spPr>
        <p:txBody>
          <a:bodyPr wrap="none" lIns="153035" tIns="102108" rIns="153035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Value (USD)</a:t>
            </a:r>
            <a:endParaRPr lang="en-US" sz="1295" dirty="0"/>
          </a:p>
        </p:txBody>
      </p:sp>
      <p:sp>
        <p:nvSpPr>
          <p:cNvPr id="8" name="Shape 5"/>
          <p:cNvSpPr/>
          <p:nvPr/>
        </p:nvSpPr>
        <p:spPr>
          <a:xfrm>
            <a:off x="4572000" y="842963"/>
            <a:ext cx="4143375" cy="371475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842963"/>
            <a:ext cx="4143375" cy="371475"/>
          </a:xfrm>
          <a:prstGeom prst="rect">
            <a:avLst/>
          </a:prstGeom>
          <a:noFill/>
          <a:ln/>
        </p:spPr>
        <p:txBody>
          <a:bodyPr wrap="none" lIns="153035" tIns="102108" rIns="153035" bIns="8509" rtlCol="0" anchor="ctr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FFFFFF"/>
                </a:solidFill>
              </a:rPr>
              <a:t>Interpretation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428625" y="1214438"/>
            <a:ext cx="2071688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Count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500313" y="1214438"/>
            <a:ext cx="2071688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15,663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572000" y="1214438"/>
            <a:ext cx="4143375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Total records after cleaning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28625" y="1557338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Mean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2500313" y="1557338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$152,635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572000" y="1557338"/>
            <a:ext cx="4143375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Average (pulled up by high earners)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428625" y="1907381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Median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2500313" y="1907381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$141,300</a:t>
            </a:r>
            <a:endParaRPr lang="en-US" sz="1269" dirty="0"/>
          </a:p>
        </p:txBody>
      </p:sp>
      <p:sp>
        <p:nvSpPr>
          <p:cNvPr id="18" name="Text 15"/>
          <p:cNvSpPr/>
          <p:nvPr/>
        </p:nvSpPr>
        <p:spPr>
          <a:xfrm>
            <a:off x="4572000" y="1907381"/>
            <a:ext cx="4143375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Middle value, less affected by outliers</a:t>
            </a:r>
            <a:endParaRPr lang="en-US" sz="1269" dirty="0"/>
          </a:p>
        </p:txBody>
      </p:sp>
      <p:sp>
        <p:nvSpPr>
          <p:cNvPr id="19" name="Text 16"/>
          <p:cNvSpPr/>
          <p:nvPr/>
        </p:nvSpPr>
        <p:spPr>
          <a:xfrm>
            <a:off x="428625" y="2257425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Std Dev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500313" y="2257425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$66,992</a:t>
            </a:r>
            <a:endParaRPr lang="en-US" sz="1269" dirty="0"/>
          </a:p>
        </p:txBody>
      </p:sp>
      <p:sp>
        <p:nvSpPr>
          <p:cNvPr id="21" name="Text 18"/>
          <p:cNvSpPr/>
          <p:nvPr/>
        </p:nvSpPr>
        <p:spPr>
          <a:xfrm>
            <a:off x="4572000" y="2257425"/>
            <a:ext cx="4143375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High variability in salaries</a:t>
            </a:r>
            <a:endParaRPr lang="en-US" sz="1269" dirty="0"/>
          </a:p>
        </p:txBody>
      </p:sp>
      <p:sp>
        <p:nvSpPr>
          <p:cNvPr id="22" name="Text 19"/>
          <p:cNvSpPr/>
          <p:nvPr/>
        </p:nvSpPr>
        <p:spPr>
          <a:xfrm>
            <a:off x="428625" y="2607469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Min / Max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2500313" y="2607469"/>
            <a:ext cx="2071688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$15k / $800k</a:t>
            </a:r>
            <a:endParaRPr lang="en-US" sz="1269" dirty="0"/>
          </a:p>
        </p:txBody>
      </p:sp>
      <p:sp>
        <p:nvSpPr>
          <p:cNvPr id="24" name="Text 21"/>
          <p:cNvSpPr/>
          <p:nvPr/>
        </p:nvSpPr>
        <p:spPr>
          <a:xfrm>
            <a:off x="4572000" y="2607469"/>
            <a:ext cx="4143375" cy="350044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Entry-level to senior executives</a:t>
            </a:r>
            <a:endParaRPr lang="en-US" sz="1269" dirty="0"/>
          </a:p>
        </p:txBody>
      </p:sp>
      <p:sp>
        <p:nvSpPr>
          <p:cNvPr id="25" name="Text 22"/>
          <p:cNvSpPr/>
          <p:nvPr/>
        </p:nvSpPr>
        <p:spPr>
          <a:xfrm>
            <a:off x="428625" y="2957513"/>
            <a:ext cx="2071688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2C3E50"/>
                </a:solidFill>
              </a:rPr>
              <a:t>Q1 / Q3</a:t>
            </a:r>
            <a:endParaRPr lang="en-US" sz="1193" dirty="0"/>
          </a:p>
        </p:txBody>
      </p:sp>
      <p:sp>
        <p:nvSpPr>
          <p:cNvPr id="26" name="Text 23"/>
          <p:cNvSpPr/>
          <p:nvPr/>
        </p:nvSpPr>
        <p:spPr>
          <a:xfrm>
            <a:off x="2500313" y="2957513"/>
            <a:ext cx="2071688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$105k / $185k</a:t>
            </a:r>
            <a:endParaRPr lang="en-US" sz="1269" dirty="0"/>
          </a:p>
        </p:txBody>
      </p:sp>
      <p:sp>
        <p:nvSpPr>
          <p:cNvPr id="27" name="Text 24"/>
          <p:cNvSpPr/>
          <p:nvPr/>
        </p:nvSpPr>
        <p:spPr>
          <a:xfrm>
            <a:off x="4572000" y="2957513"/>
            <a:ext cx="4143375" cy="342900"/>
          </a:xfrm>
          <a:prstGeom prst="rect">
            <a:avLst/>
          </a:prstGeom>
          <a:noFill/>
          <a:ln/>
        </p:spPr>
        <p:txBody>
          <a:bodyPr wrap="none" lIns="153035" tIns="85090" rIns="153035" bIns="8509" rtlCol="0" anchor="ctr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IQR = $80,000 (middle 50% spread)</a:t>
            </a:r>
            <a:endParaRPr lang="en-US" sz="1269" dirty="0"/>
          </a:p>
        </p:txBody>
      </p:sp>
      <p:sp>
        <p:nvSpPr>
          <p:cNvPr id="28" name="Text 25"/>
          <p:cNvSpPr/>
          <p:nvPr/>
        </p:nvSpPr>
        <p:spPr>
          <a:xfrm>
            <a:off x="428625" y="3443288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Insights:</a:t>
            </a:r>
            <a:endParaRPr lang="en-US" sz="1397" dirty="0"/>
          </a:p>
        </p:txBody>
      </p:sp>
      <p:sp>
        <p:nvSpPr>
          <p:cNvPr id="29" name="Text 26"/>
          <p:cNvSpPr/>
          <p:nvPr/>
        </p:nvSpPr>
        <p:spPr>
          <a:xfrm>
            <a:off x="428625" y="3814763"/>
            <a:ext cx="8286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Mean &gt; Median indicates </a:t>
            </a:r>
            <a:r>
              <a:rPr lang="en-US" sz="1193" b="1" dirty="0">
                <a:solidFill>
                  <a:srgbClr val="2C3E50"/>
                </a:solidFill>
              </a:rPr>
              <a:t>right-skewed distribution</a:t>
            </a:r>
            <a:r>
              <a:rPr lang="en-US" sz="1269" dirty="0">
                <a:solidFill>
                  <a:srgbClr val="2C3E50"/>
                </a:solidFill>
              </a:rPr>
              <a:t>. Large standard deviation reflects </a:t>
            </a:r>
            <a:r>
              <a:rPr lang="en-US" sz="1193" b="1" dirty="0">
                <a:solidFill>
                  <a:srgbClr val="2C3E50"/>
                </a:solidFill>
              </a:rPr>
              <a:t>wide salary range</a:t>
            </a:r>
            <a:r>
              <a:rPr lang="en-US" sz="1269" dirty="0">
                <a:solidFill>
                  <a:srgbClr val="2C3E50"/>
                </a:solidFill>
              </a:rPr>
              <a:t> across experience levels and roles.</a:t>
            </a:r>
            <a:endParaRPr lang="en-US" sz="12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Salary Distribution Shows Heavy Right Skew</a:t>
            </a:r>
            <a:endParaRPr lang="en-US" sz="201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42963"/>
            <a:ext cx="4661297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9953" y="842963"/>
            <a:ext cx="3375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Distribution Shape: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339953" y="1200150"/>
            <a:ext cx="33754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Heavy concentration in $100k-$150k range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5339953" y="1771650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Long right tail extending to $800k+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339953" y="2085975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Positive skewness confirmed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339953" y="2450306"/>
            <a:ext cx="3375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Implications: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5339953" y="2807494"/>
            <a:ext cx="33754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Most professionals earn moderate salaries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5339953" y="3378994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Small proportion of high earners</a:t>
            </a:r>
            <a:endParaRPr lang="en-US" sz="1269" dirty="0"/>
          </a:p>
        </p:txBody>
      </p:sp>
      <p:sp>
        <p:nvSpPr>
          <p:cNvPr id="12" name="Text 8"/>
          <p:cNvSpPr/>
          <p:nvPr/>
        </p:nvSpPr>
        <p:spPr>
          <a:xfrm>
            <a:off x="5339953" y="3693319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Requires robust statistical methods</a:t>
            </a:r>
            <a:endParaRPr lang="en-US" sz="1269" dirty="0"/>
          </a:p>
        </p:txBody>
      </p:sp>
      <p:sp>
        <p:nvSpPr>
          <p:cNvPr id="13" name="Text 9"/>
          <p:cNvSpPr/>
          <p:nvPr/>
        </p:nvSpPr>
        <p:spPr>
          <a:xfrm>
            <a:off x="5339953" y="4079081"/>
            <a:ext cx="337542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Right-skewed pattern justifies use of median over mean for central tendency analysis.</a:t>
            </a:r>
            <a:endParaRPr lang="en-US" sz="119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Boxplot Reveals Outliers and Quartile Structure</a:t>
            </a:r>
            <a:endParaRPr lang="en-US" sz="201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42963"/>
            <a:ext cx="4661297" cy="4000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9953" y="842963"/>
            <a:ext cx="3375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Boxplot Components: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339953" y="1200150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Box: IQR from Q1 ($105k) to Q3 ($185k)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5339953" y="1514475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Median line: ~$141k (center of box)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339953" y="1828800"/>
            <a:ext cx="33754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Whiskers: Extend to min/max within 1.5×IQR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339953" y="2400300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Outliers: Points beyond whiskers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5339953" y="2764631"/>
            <a:ext cx="3375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Observations: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5339953" y="3121819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Numerous outliers above upper whisker</a:t>
            </a:r>
            <a:endParaRPr lang="en-US" sz="1269" dirty="0"/>
          </a:p>
        </p:txBody>
      </p:sp>
      <p:sp>
        <p:nvSpPr>
          <p:cNvPr id="12" name="Text 8"/>
          <p:cNvSpPr/>
          <p:nvPr/>
        </p:nvSpPr>
        <p:spPr>
          <a:xfrm>
            <a:off x="5339953" y="3436144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Few outliers below lower whisker</a:t>
            </a:r>
            <a:endParaRPr lang="en-US" sz="1269" dirty="0"/>
          </a:p>
        </p:txBody>
      </p:sp>
      <p:sp>
        <p:nvSpPr>
          <p:cNvPr id="13" name="Text 9"/>
          <p:cNvSpPr/>
          <p:nvPr/>
        </p:nvSpPr>
        <p:spPr>
          <a:xfrm>
            <a:off x="5339953" y="3750469"/>
            <a:ext cx="33754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Confirms right-skewed distribution</a:t>
            </a:r>
            <a:endParaRPr lang="en-US" sz="1269" dirty="0"/>
          </a:p>
        </p:txBody>
      </p:sp>
      <p:sp>
        <p:nvSpPr>
          <p:cNvPr id="14" name="Text 10"/>
          <p:cNvSpPr/>
          <p:nvPr/>
        </p:nvSpPr>
        <p:spPr>
          <a:xfrm>
            <a:off x="5339953" y="4136231"/>
            <a:ext cx="337542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Boxplot complements histogram by clearly showing quartiles, median, and outlier structure.</a:t>
            </a:r>
            <a:endParaRPr lang="en-US" sz="11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Executive and Senior Levels Dominate Top Job Titles</a:t>
            </a:r>
            <a:endParaRPr lang="en-US" sz="201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828675"/>
            <a:ext cx="8286750" cy="2714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3614738"/>
            <a:ext cx="40362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Observations: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428625" y="3971925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Executive level: &gt;6,000 records maximum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428625" y="4271963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Senior level: &lt;3,000 records, consistently second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428625" y="4572000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Entry exceeds Mid in several roles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4679156" y="3614738"/>
            <a:ext cx="403621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Implications: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4679156" y="3971925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Dataset focuses on professionals and executives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4679156" y="4271963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Companies open to early-career hires</a:t>
            </a:r>
            <a:endParaRPr lang="en-US" sz="1269" dirty="0"/>
          </a:p>
        </p:txBody>
      </p:sp>
      <p:sp>
        <p:nvSpPr>
          <p:cNvPr id="12" name="Text 8"/>
          <p:cNvSpPr/>
          <p:nvPr/>
        </p:nvSpPr>
        <p:spPr>
          <a:xfrm>
            <a:off x="4679156" y="4572000"/>
            <a:ext cx="403621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Mature job market with career progression</a:t>
            </a:r>
            <a:endParaRPr lang="en-US" sz="126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Hybrid Work Shows Lower Salaries Than On-Site and Remote</a:t>
            </a:r>
            <a:endParaRPr lang="en-US" sz="201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71575"/>
            <a:ext cx="4420195" cy="39290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98852" y="1171575"/>
            <a:ext cx="3616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Salary Patterns: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098852" y="1508754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On-site (0%):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098852" y="1748768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High median, wide IQR, high outliers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098852" y="2045931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Hybrid (50%):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5098852" y="2285944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Lower median and IQR, fewer extremes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5098852" y="2583107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Fully Remote (100%):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5098852" y="2823121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High median similar to on-site</a:t>
            </a:r>
            <a:endParaRPr lang="en-US" sz="1269" dirty="0"/>
          </a:p>
        </p:txBody>
      </p:sp>
      <p:sp>
        <p:nvSpPr>
          <p:cNvPr id="12" name="Text 8"/>
          <p:cNvSpPr/>
          <p:nvPr/>
        </p:nvSpPr>
        <p:spPr>
          <a:xfrm>
            <a:off x="5098852" y="3148859"/>
            <a:ext cx="3616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Findings: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5098852" y="3486038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Hybrid pays less than on-site or remote</a:t>
            </a:r>
            <a:endParaRPr lang="en-US" sz="1269" dirty="0"/>
          </a:p>
        </p:txBody>
      </p:sp>
      <p:sp>
        <p:nvSpPr>
          <p:cNvPr id="14" name="Text 10"/>
          <p:cNvSpPr/>
          <p:nvPr/>
        </p:nvSpPr>
        <p:spPr>
          <a:xfrm>
            <a:off x="5098852" y="3768914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On-site and remote offer comparable compensation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5098852" y="4291803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Maximum outliers reach $800,000 USD</a:t>
            </a:r>
            <a:endParaRPr lang="en-US" sz="1269" dirty="0"/>
          </a:p>
        </p:txBody>
      </p:sp>
      <p:sp>
        <p:nvSpPr>
          <p:cNvPr id="16" name="Text 12"/>
          <p:cNvSpPr/>
          <p:nvPr/>
        </p:nvSpPr>
        <p:spPr>
          <a:xfrm>
            <a:off x="5098852" y="4617541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27AE60"/>
                </a:solidFill>
              </a:rPr>
              <a:t>V-shape pattern suggests hybrid arrangements may be undervalued.</a:t>
            </a:r>
            <a:endParaRPr lang="en-US" sz="119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MAD Method Provides Optimal Balance for Skewed Data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57213" y="921544"/>
            <a:ext cx="383619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1. IQR Method</a:t>
            </a:r>
            <a:endParaRPr lang="en-US" sz="1295" dirty="0"/>
          </a:p>
        </p:txBody>
      </p:sp>
      <p:sp>
        <p:nvSpPr>
          <p:cNvPr id="5" name="Text 2"/>
          <p:cNvSpPr/>
          <p:nvPr/>
        </p:nvSpPr>
        <p:spPr>
          <a:xfrm>
            <a:off x="557213" y="1243013"/>
            <a:ext cx="3836194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Too aggressive for right-skewed data</a:t>
            </a:r>
            <a:endParaRPr lang="en-US" sz="1269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1523042"/>
            <a:ext cx="3836194" cy="85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50594" y="921544"/>
            <a:ext cx="383619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2. Z-score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4750594" y="1243013"/>
            <a:ext cx="3836194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Unreliable due to normality assumption violation</a:t>
            </a:r>
            <a:endParaRPr lang="en-US" sz="1269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1745921"/>
            <a:ext cx="3836194" cy="857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356" y="2824628"/>
            <a:ext cx="382190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27AE60"/>
                </a:solidFill>
              </a:rPr>
              <a:t>3. MAD (OPTIMAL)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564356" y="3146096"/>
            <a:ext cx="382190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7AE60"/>
                </a:solidFill>
              </a:rPr>
              <a:t>Balances outlier removal with preservation of legitimate high salaries</a:t>
            </a:r>
            <a:endParaRPr lang="en-US" sz="1193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56" y="3649005"/>
            <a:ext cx="3821906" cy="857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50594" y="2817484"/>
            <a:ext cx="383619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4. Isolation Forest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4750594" y="3138953"/>
            <a:ext cx="3836194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Effective but less interpretable</a:t>
            </a:r>
            <a:endParaRPr lang="en-US" sz="1269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3418982"/>
            <a:ext cx="3836194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Log-Normal Distribution Best Fits Salary Data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28675"/>
            <a:ext cx="266699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E74C3C"/>
                </a:solidFill>
              </a:rPr>
              <a:t>Original Tests</a:t>
            </a:r>
            <a:endParaRPr lang="en-US" sz="129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78719"/>
            <a:ext cx="2666991" cy="1285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2536031"/>
            <a:ext cx="266699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Heavy right skew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428625" y="2818907"/>
            <a:ext cx="266699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Q-Q Plot: deviation from normal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428625" y="3341796"/>
            <a:ext cx="266699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Result:</a:t>
            </a:r>
            <a:r>
              <a:rPr lang="en-US" sz="1269" dirty="0">
                <a:solidFill>
                  <a:srgbClr val="2C3E50"/>
                </a:solidFill>
              </a:rPr>
              <a:t> NOT normal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3238491" y="828675"/>
            <a:ext cx="266699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E74C3C"/>
                </a:solidFill>
              </a:rPr>
              <a:t>Normality Tests</a:t>
            </a:r>
            <a:endParaRPr lang="en-US" sz="129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91" y="1178719"/>
            <a:ext cx="2666991" cy="1285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38491" y="2536031"/>
            <a:ext cx="266699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Shapiro-Wilk: p ≪ 0.05</a:t>
            </a:r>
            <a:endParaRPr lang="en-US" sz="1269" dirty="0"/>
          </a:p>
        </p:txBody>
      </p:sp>
      <p:sp>
        <p:nvSpPr>
          <p:cNvPr id="12" name="Text 7"/>
          <p:cNvSpPr/>
          <p:nvPr/>
        </p:nvSpPr>
        <p:spPr>
          <a:xfrm>
            <a:off x="3238491" y="2818907"/>
            <a:ext cx="266699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K-S test: p ≪ 0.05</a:t>
            </a:r>
            <a:endParaRPr lang="en-US" sz="1269" dirty="0"/>
          </a:p>
        </p:txBody>
      </p:sp>
      <p:sp>
        <p:nvSpPr>
          <p:cNvPr id="13" name="Text 8"/>
          <p:cNvSpPr/>
          <p:nvPr/>
        </p:nvSpPr>
        <p:spPr>
          <a:xfrm>
            <a:off x="3238491" y="3101783"/>
            <a:ext cx="2666991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Result:</a:t>
            </a:r>
            <a:r>
              <a:rPr lang="en-US" sz="1269" dirty="0">
                <a:solidFill>
                  <a:srgbClr val="2C3E50"/>
                </a:solidFill>
              </a:rPr>
              <a:t> Reject normality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6048356" y="828675"/>
            <a:ext cx="26670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E74C3C"/>
                </a:solidFill>
              </a:rPr>
              <a:t>Log Transform</a:t>
            </a:r>
            <a:endParaRPr lang="en-US" sz="1295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56" y="1178719"/>
            <a:ext cx="2667019" cy="1285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48356" y="2536031"/>
            <a:ext cx="266701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Applied log(salary)</a:t>
            </a:r>
            <a:endParaRPr lang="en-US" sz="1269" dirty="0"/>
          </a:p>
        </p:txBody>
      </p:sp>
      <p:sp>
        <p:nvSpPr>
          <p:cNvPr id="17" name="Text 11"/>
          <p:cNvSpPr/>
          <p:nvPr/>
        </p:nvSpPr>
        <p:spPr>
          <a:xfrm>
            <a:off x="6048356" y="2818907"/>
            <a:ext cx="266701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Becomes normal</a:t>
            </a:r>
            <a:endParaRPr lang="en-US" sz="1269" dirty="0"/>
          </a:p>
        </p:txBody>
      </p:sp>
      <p:sp>
        <p:nvSpPr>
          <p:cNvPr id="18" name="Text 12"/>
          <p:cNvSpPr/>
          <p:nvPr/>
        </p:nvSpPr>
        <p:spPr>
          <a:xfrm>
            <a:off x="6048356" y="3101783"/>
            <a:ext cx="266701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Result:</a:t>
            </a:r>
            <a:r>
              <a:rPr lang="en-US" sz="1269" dirty="0">
                <a:solidFill>
                  <a:srgbClr val="2C3E50"/>
                </a:solidFill>
              </a:rPr>
              <a:t> Log-normal distribution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428625" y="3838984"/>
            <a:ext cx="82867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Practical Implications:</a:t>
            </a:r>
            <a:endParaRPr lang="en-US" sz="1295" dirty="0"/>
          </a:p>
        </p:txBody>
      </p:sp>
      <p:sp>
        <p:nvSpPr>
          <p:cNvPr id="20" name="Text 14"/>
          <p:cNvSpPr/>
          <p:nvPr/>
        </p:nvSpPr>
        <p:spPr>
          <a:xfrm>
            <a:off x="428625" y="4174741"/>
            <a:ext cx="8286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Multiplicative growth processes in salary determination. Justifies log-transformation in regression modeling.</a:t>
            </a:r>
            <a:endParaRPr lang="en-US" sz="126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ANOVA Confirms Significant Salary Differences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28675"/>
            <a:ext cx="40183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Method: ANOVA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1165854"/>
            <a:ext cx="401835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Compares means of three or more independent groups. Suitable for categorical variable with 3 groups.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1957332"/>
            <a:ext cx="40183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Hypotheses: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535781" y="2294511"/>
            <a:ext cx="39112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</a:rPr>
              <a:t>H₀:</a:t>
            </a:r>
            <a:r>
              <a:rPr lang="en-US" sz="1269" dirty="0">
                <a:solidFill>
                  <a:srgbClr val="2C3E50"/>
                </a:solidFill>
              </a:rPr>
              <a:t> Mean salary same across all remote ratios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535781" y="2577387"/>
            <a:ext cx="39112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E74C3C"/>
                </a:solidFill>
              </a:rPr>
              <a:t>H₁:</a:t>
            </a:r>
            <a:r>
              <a:rPr lang="en-US" sz="1269" dirty="0">
                <a:solidFill>
                  <a:srgbClr val="2C3E50"/>
                </a:solidFill>
              </a:rPr>
              <a:t> At least one ratio has different mean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35781" y="2860263"/>
            <a:ext cx="39112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Significance: </a:t>
            </a:r>
            <a:r>
              <a:rPr lang="en-US" sz="1193" b="1" dirty="0">
                <a:solidFill>
                  <a:srgbClr val="E74C3C"/>
                </a:solidFill>
              </a:rPr>
              <a:t>α = 0.05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28625" y="3264582"/>
            <a:ext cx="40183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7AE60"/>
                </a:solidFill>
              </a:rPr>
              <a:t>Results: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28625" y="3601762"/>
            <a:ext cx="40183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p-value: </a:t>
            </a:r>
            <a:r>
              <a:rPr lang="en-US" sz="1193" b="1" dirty="0">
                <a:solidFill>
                  <a:srgbClr val="27AE60"/>
                </a:solidFill>
              </a:rPr>
              <a:t>~1.22 × 10⁻⁸⁶ ≪ 0.05</a:t>
            </a:r>
            <a:endParaRPr lang="en-US" sz="1269" dirty="0"/>
          </a:p>
        </p:txBody>
      </p:sp>
      <p:sp>
        <p:nvSpPr>
          <p:cNvPr id="12" name="Text 9"/>
          <p:cNvSpPr/>
          <p:nvPr/>
        </p:nvSpPr>
        <p:spPr>
          <a:xfrm>
            <a:off x="428625" y="3898925"/>
            <a:ext cx="4018359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Decision: Reject H₀</a:t>
            </a:r>
            <a:endParaRPr lang="en-US" sz="1295" dirty="0"/>
          </a:p>
        </p:txBody>
      </p:sp>
      <p:sp>
        <p:nvSpPr>
          <p:cNvPr id="13" name="Text 10"/>
          <p:cNvSpPr/>
          <p:nvPr/>
        </p:nvSpPr>
        <p:spPr>
          <a:xfrm>
            <a:off x="428625" y="4216096"/>
            <a:ext cx="40183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Statistically significant difference exists across remote work categories.</a:t>
            </a:r>
            <a:endParaRPr lang="en-US" sz="1269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16" y="828675"/>
            <a:ext cx="401835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Remote Work Reflects Post-COVID Evolution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2867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Key Observations: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1185863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Hybrid work shows lower compensation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1468738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Fully remote and on-site offer comparable levels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751614"/>
            <a:ext cx="82867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Data spans 2020-2024 (COVID-19 impact period)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2077352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Practical Explanations: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2505977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1. Increased Demand:</a:t>
            </a:r>
            <a:endParaRPr lang="en-US" sz="1295" dirty="0"/>
          </a:p>
        </p:txBody>
      </p:sp>
      <p:sp>
        <p:nvSpPr>
          <p:cNvPr id="10" name="Text 7"/>
          <p:cNvSpPr/>
          <p:nvPr/>
        </p:nvSpPr>
        <p:spPr>
          <a:xfrm>
            <a:off x="535781" y="2827446"/>
            <a:ext cx="3929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COVID-19 accelerated remote work adoption globally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3364623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2. Employee Preferences: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535781" y="3686091"/>
            <a:ext cx="3929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Flexibility and work-life balance increasingly valued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679156" y="2505977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3. Technology Infrastructure:</a:t>
            </a:r>
            <a:endParaRPr lang="en-US" sz="1295" dirty="0"/>
          </a:p>
        </p:txBody>
      </p:sp>
      <p:sp>
        <p:nvSpPr>
          <p:cNvPr id="14" name="Text 11"/>
          <p:cNvSpPr/>
          <p:nvPr/>
        </p:nvSpPr>
        <p:spPr>
          <a:xfrm>
            <a:off x="4786313" y="2827446"/>
            <a:ext cx="39290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Cloud platforms enable productivity from anywhere</a:t>
            </a:r>
            <a:endParaRPr lang="en-US" sz="1269" dirty="0"/>
          </a:p>
        </p:txBody>
      </p:sp>
      <p:sp>
        <p:nvSpPr>
          <p:cNvPr id="15" name="Text 12"/>
          <p:cNvSpPr/>
          <p:nvPr/>
        </p:nvSpPr>
        <p:spPr>
          <a:xfrm>
            <a:off x="4679156" y="3486066"/>
            <a:ext cx="403621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Conclusion:</a:t>
            </a:r>
            <a:endParaRPr lang="en-US" sz="1295" dirty="0"/>
          </a:p>
        </p:txBody>
      </p:sp>
      <p:sp>
        <p:nvSpPr>
          <p:cNvPr id="16" name="Text 13"/>
          <p:cNvSpPr/>
          <p:nvPr/>
        </p:nvSpPr>
        <p:spPr>
          <a:xfrm>
            <a:off x="4679156" y="3807535"/>
            <a:ext cx="40362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Remote work's growing importance confirmed in AI/ML/Data Science roles.</a:t>
            </a:r>
            <a:endParaRPr lang="en-US" sz="126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Experience Level Shows Strongest Correlation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42963"/>
            <a:ext cx="3616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Method: Spearman ρ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1180142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Measures monotonic relationships. Robust to outliers. Range: ρ ∈ [-1, 1]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1731606"/>
            <a:ext cx="3616523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Results: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2068785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Experience Level:</a:t>
            </a:r>
            <a:r>
              <a:rPr lang="en-US" sz="1193" b="1" dirty="0">
                <a:solidFill>
                  <a:srgbClr val="27AE60"/>
                </a:solidFill>
              </a:rPr>
              <a:t>ρ ≈ 0.5-0.6</a:t>
            </a:r>
            <a:r>
              <a:rPr lang="en-US" sz="1269" dirty="0">
                <a:solidFill>
                  <a:srgbClr val="2C3E50"/>
                </a:solidFill>
              </a:rPr>
              <a:t> (strong positive)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2605962"/>
            <a:ext cx="361652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Work Year:</a:t>
            </a:r>
            <a:r>
              <a:rPr lang="en-US" sz="1269" dirty="0">
                <a:solidFill>
                  <a:srgbClr val="2C3E50"/>
                </a:solidFill>
              </a:rPr>
              <a:t> ρ ≈ 0.1-0.2 (weak positive)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28625" y="2903125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Remote Ratio:</a:t>
            </a:r>
            <a:r>
              <a:rPr lang="en-US" sz="1269" dirty="0">
                <a:solidFill>
                  <a:srgbClr val="2C3E50"/>
                </a:solidFill>
              </a:rPr>
              <a:t> ρ ≈ 0 (no monotonic relationship)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3440302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Company Size:</a:t>
            </a:r>
            <a:r>
              <a:rPr lang="en-US" sz="1269" dirty="0">
                <a:solidFill>
                  <a:srgbClr val="2C3E50"/>
                </a:solidFill>
              </a:rPr>
              <a:t> ρ ≈ 0 (no monotonic relationship)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8625" y="4006053"/>
            <a:ext cx="361652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Experience level is the dominant factor correlating with salary.</a:t>
            </a:r>
            <a:endParaRPr lang="en-US" sz="1193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180" y="842963"/>
            <a:ext cx="4420195" cy="1857375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180" y="2828925"/>
            <a:ext cx="4420195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Visual Confirmation of Correlation Patterns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28675"/>
            <a:ext cx="40576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Heatmap Analysis</a:t>
            </a:r>
            <a:endParaRPr lang="en-US" sz="139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71575"/>
            <a:ext cx="405765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3500438"/>
            <a:ext cx="40576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Experience level dominates. Remote ratio and company size show minimal correlation.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4657725" y="828675"/>
            <a:ext cx="40576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Boxplots with Regression</a:t>
            </a:r>
            <a:endParaRPr lang="en-US" sz="139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1171575"/>
            <a:ext cx="4057650" cy="2286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57725" y="3500438"/>
            <a:ext cx="40576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Clear upward trend from Entry to Executive. Regression line confirms positive relationship.</a:t>
            </a:r>
            <a:endParaRPr lang="en-US" sz="1269" dirty="0"/>
          </a:p>
        </p:txBody>
      </p:sp>
      <p:sp>
        <p:nvSpPr>
          <p:cNvPr id="10" name="Text 5"/>
          <p:cNvSpPr/>
          <p:nvPr/>
        </p:nvSpPr>
        <p:spPr>
          <a:xfrm>
            <a:off x="428625" y="4287645"/>
            <a:ext cx="8286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A5490"/>
                </a:solidFill>
              </a:rPr>
              <a:t>Validation: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28625" y="4644833"/>
            <a:ext cx="8286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Visual patterns align with Spearman correlation results. Experience level consistently emerges as the primary salary determinant across multiple analytical approaches.</a:t>
            </a:r>
            <a:endParaRPr lang="en-US" sz="1269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Multiple Linear Regression Achieves Moderate Fit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828675"/>
            <a:ext cx="38747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Model Setup: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428625" y="1165854"/>
            <a:ext cx="38747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Target: log(salary_in_usd)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1448730"/>
            <a:ext cx="38747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Predictors: experience_level, work_year, remote_ratio, company_size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28625" y="1971619"/>
            <a:ext cx="38747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Train-test split: 80%-20%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8625" y="2283070"/>
            <a:ext cx="38747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74C3C"/>
                </a:solidFill>
              </a:rPr>
              <a:t>Preprocessing: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28625" y="2620249"/>
            <a:ext cx="38747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Ordinal encoding for ranked features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28625" y="2903125"/>
            <a:ext cx="38747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• One-hot encoding for nominal features</a:t>
            </a:r>
            <a:endParaRPr lang="en-US" sz="1269" dirty="0"/>
          </a:p>
        </p:txBody>
      </p:sp>
      <p:sp>
        <p:nvSpPr>
          <p:cNvPr id="11" name="Text 8"/>
          <p:cNvSpPr/>
          <p:nvPr/>
        </p:nvSpPr>
        <p:spPr>
          <a:xfrm>
            <a:off x="428625" y="3307445"/>
            <a:ext cx="3874759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7AE60"/>
                </a:solidFill>
              </a:rPr>
              <a:t>Evaluation Metrics: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428625" y="3644624"/>
            <a:ext cx="387475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R²:</a:t>
            </a:r>
            <a:r>
              <a:rPr lang="en-US" sz="1193" b="1" dirty="0">
                <a:solidFill>
                  <a:srgbClr val="27AE60"/>
                </a:solidFill>
              </a:rPr>
              <a:t>~0.35-0.40</a:t>
            </a:r>
            <a:r>
              <a:rPr lang="en-US" sz="1269" dirty="0">
                <a:solidFill>
                  <a:srgbClr val="2C3E50"/>
                </a:solidFill>
              </a:rPr>
              <a:t> (moderate fit)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28625" y="3927500"/>
            <a:ext cx="38747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5490"/>
                </a:solidFill>
              </a:rPr>
              <a:t>RMSE:</a:t>
            </a:r>
            <a:r>
              <a:rPr lang="en-US" sz="1269" dirty="0">
                <a:solidFill>
                  <a:srgbClr val="2C3E50"/>
                </a:solidFill>
              </a:rPr>
              <a:t> Lower on test than train (good generalization)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28625" y="4478964"/>
            <a:ext cx="387475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E74C3C"/>
                </a:solidFill>
              </a:rPr>
              <a:t>Limitation: Other factors (job title, location) also influence salary but not included.</a:t>
            </a:r>
            <a:endParaRPr lang="en-US" sz="1269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696" y="828675"/>
            <a:ext cx="419767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Key Findings Summary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607219" y="914400"/>
            <a:ext cx="37790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74C3C"/>
                </a:solidFill>
              </a:rPr>
              <a:t>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607219" y="1300163"/>
            <a:ext cx="3779044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Experience Level Dominates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607219" y="1584461"/>
            <a:ext cx="37790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Strongest predictor of salary (ρ ≈ 0.5-0.6). Clear progression from Entry to Executive.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793456" y="914400"/>
            <a:ext cx="37790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74C3C"/>
                </a:solidFill>
              </a:rPr>
              <a:t>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793456" y="1300163"/>
            <a:ext cx="3779044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Hybrid Work Paradox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793456" y="1584461"/>
            <a:ext cx="377904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Hybrid shows lower salaries than on-site or fully remote. V-shaped pattern confirmed by ANOVA.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607219" y="2461664"/>
            <a:ext cx="37790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74C3C"/>
                </a:solidFill>
              </a:rPr>
              <a:t>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607219" y="2847426"/>
            <a:ext cx="3779044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Additional Factors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607219" y="3131725"/>
            <a:ext cx="377904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Work year, company size show weak correlation. Job title and location not analyzed but likely influential.</a:t>
            </a:r>
            <a:endParaRPr lang="en-US" sz="1269" dirty="0"/>
          </a:p>
        </p:txBody>
      </p:sp>
      <p:sp>
        <p:nvSpPr>
          <p:cNvPr id="13" name="Text 10"/>
          <p:cNvSpPr/>
          <p:nvPr/>
        </p:nvSpPr>
        <p:spPr>
          <a:xfrm>
            <a:off x="4793456" y="2461664"/>
            <a:ext cx="37790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E74C3C"/>
                </a:solidFill>
              </a:rPr>
              <a:t>4</a:t>
            </a:r>
            <a:endParaRPr lang="en-US" sz="1602" dirty="0"/>
          </a:p>
        </p:txBody>
      </p:sp>
      <p:sp>
        <p:nvSpPr>
          <p:cNvPr id="14" name="Text 11"/>
          <p:cNvSpPr/>
          <p:nvPr/>
        </p:nvSpPr>
        <p:spPr>
          <a:xfrm>
            <a:off x="4793456" y="2847426"/>
            <a:ext cx="3779044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95" b="1" dirty="0">
                <a:solidFill>
                  <a:srgbClr val="1A5490"/>
                </a:solidFill>
              </a:rPr>
              <a:t>Distribution Characteristics</a:t>
            </a:r>
            <a:endParaRPr lang="en-US" sz="1295" dirty="0"/>
          </a:p>
        </p:txBody>
      </p:sp>
      <p:sp>
        <p:nvSpPr>
          <p:cNvPr id="15" name="Text 12"/>
          <p:cNvSpPr/>
          <p:nvPr/>
        </p:nvSpPr>
        <p:spPr>
          <a:xfrm>
            <a:off x="4793456" y="3131725"/>
            <a:ext cx="377904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Right-skewed, log-normal distribution. Median ($141k) more representative than mean ($153k).</a:t>
            </a:r>
            <a:endParaRPr lang="en-US" sz="1269" dirty="0"/>
          </a:p>
        </p:txBody>
      </p:sp>
      <p:sp>
        <p:nvSpPr>
          <p:cNvPr id="16" name="Text 13"/>
          <p:cNvSpPr/>
          <p:nvPr/>
        </p:nvSpPr>
        <p:spPr>
          <a:xfrm>
            <a:off x="428625" y="4130371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27AE60"/>
                </a:solidFill>
              </a:rPr>
              <a:t>Overall Conclusion: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428625" y="4544709"/>
            <a:ext cx="8286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295" b="1" dirty="0">
                <a:solidFill>
                  <a:srgbClr val="2C3E50"/>
                </a:solidFill>
              </a:rPr>
              <a:t>Experience level is the primary salary driver. Remote work impact is nuanced and context-dependent.</a:t>
            </a:r>
            <a:endParaRPr lang="en-US" sz="129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91696"/>
            <a:ext cx="80010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436" b="1" kern="0" spc="2" dirty="0">
                <a:solidFill>
                  <a:srgbClr val="1A5490"/>
                </a:solidFill>
              </a:rPr>
              <a:t>THANKS FOR YOUR READING AND LISTENING</a:t>
            </a:r>
            <a:endParaRPr lang="en-US" sz="24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1511</Words>
  <Application>Microsoft Office PowerPoint</Application>
  <PresentationFormat>On-screen Show (16:9)</PresentationFormat>
  <Paragraphs>253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 Minh Triet</cp:lastModifiedBy>
  <cp:revision>2</cp:revision>
  <dcterms:created xsi:type="dcterms:W3CDTF">2025-11-22T10:10:53Z</dcterms:created>
  <dcterms:modified xsi:type="dcterms:W3CDTF">2025-11-22T12:46:52Z</dcterms:modified>
</cp:coreProperties>
</file>