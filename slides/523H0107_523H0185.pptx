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11.png" ContentType="image/png"/>
  <Override PartName="/ppt/media/image2.png" ContentType="image/png"/>
  <Override PartName="/ppt/media/image23.png" ContentType="image/png"/>
  <Override PartName="/ppt/media/image3.png" ContentType="image/png"/>
  <Override PartName="/ppt/media/image25.png" ContentType="image/png"/>
  <Override PartName="/ppt/media/image8.png" ContentType="image/png"/>
  <Override PartName="/ppt/media/image20.png" ContentType="image/png"/>
  <Override PartName="/ppt/media/image18.png" ContentType="image/png"/>
  <Override PartName="/ppt/media/image9.png" ContentType="image/png"/>
  <Override PartName="/ppt/media/image1.png" ContentType="image/png"/>
  <Override PartName="/ppt/media/image6.png" ContentType="image/png"/>
  <Override PartName="/ppt/media/image17.png" ContentType="image/png"/>
  <Override PartName="/ppt/media/image4.png" ContentType="image/png"/>
  <Override PartName="/ppt/media/image19.png" ContentType="image/png"/>
  <Override PartName="/ppt/media/image13.png" ContentType="image/png"/>
  <Override PartName="/ppt/media/image33.png" ContentType="image/png"/>
  <Override PartName="/ppt/media/image12.png" ContentType="image/png"/>
  <Override PartName="/ppt/media/image30.png" ContentType="image/png"/>
  <Override PartName="/ppt/media/image21.png" ContentType="image/png"/>
  <Override PartName="/ppt/media/image31.png" ContentType="image/png"/>
  <Override PartName="/ppt/media/image24.png" ContentType="image/png"/>
  <Override PartName="/ppt/media/image32.png" ContentType="image/png"/>
  <Override PartName="/ppt/media/image16.png" ContentType="image/png"/>
  <Override PartName="/ppt/media/image7.png" ContentType="image/png"/>
  <Override PartName="/ppt/media/image10.png" ContentType="image/png"/>
  <Override PartName="/ppt/media/image14.png" ContentType="image/png"/>
  <Override PartName="/ppt/media/image15.png" ContentType="image/png"/>
  <Override PartName="/ppt/media/image5.png" ContentType="image/png"/>
  <Override PartName="/ppt/media/image22.png" ContentType="image/png"/>
  <Override PartName="/ppt/slides/_rels/slide19.xml.rels" ContentType="application/vnd.openxmlformats-package.relationships+xml"/>
  <Override PartName="/ppt/slides/_rels/slide6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8.xml.rels" ContentType="application/vnd.openxmlformats-package.relationships+xml"/>
  <Override PartName="/ppt/slides/_rels/slide1.xml.rels" ContentType="application/vnd.openxmlformats-package.relationships+xml"/>
  <Override PartName="/ppt/slides/_rels/slide12.xml.rels" ContentType="application/vnd.openxmlformats-package.relationships+xml"/>
  <Override PartName="/ppt/slides/_rels/slide10.xml.rels" ContentType="application/vnd.openxmlformats-package.relationships+xml"/>
  <Override PartName="/ppt/slides/_rels/slide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4.xml.rels" ContentType="application/vnd.openxmlformats-package.relationships+xml"/>
  <Override PartName="/ppt/slides/_rels/slide15.xml.rels" ContentType="application/vnd.openxmlformats-package.relationships+xml"/>
  <Override PartName="/ppt/slides/_rels/slide5.xml.rels" ContentType="application/vnd.openxmlformats-package.relationships+xml"/>
  <Override PartName="/ppt/slides/_rels/slide16.xml.rels" ContentType="application/vnd.openxmlformats-package.relationships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notesSlides/_rels/notesSlide19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3.xml.rels" ContentType="application/vnd.openxmlformats-package.relationships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GB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b="0" lang="en-GB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CF88DA3-DBF4-4DFA-8DF7-EC7FDB15835A}" type="slidenum"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916922F9-4735-4645-B320-27CAD9E81B37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7CAB3329-5690-4BDB-99E2-911A435C2864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A05D2FF4-0BEB-4926-AB65-A5D746599947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CB63E7A1-D50E-4DEB-BB2E-45F4D7FB692B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C400F87B-C934-4C9D-B3C8-5C8CE979B2DD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B91B7D9-18F5-46DF-97C1-B471A6F64745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82FEF46-7E73-4182-A75A-9BD95D4A3A64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42632762-C78D-4EED-8192-59A693AC2DBC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B6EFB76D-5844-40E9-BFAC-4D4A544327D8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9C7EF7FB-3E57-4AB2-9DA8-D8EB79D311A0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29A77C28-A870-4E3E-B857-4BA871BD70EC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94A9E82C-4A04-4582-BDCA-0FABC952971D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5887FD7-3E11-429D-916A-0E0128E036E3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F84B19D7-ACE5-4DB7-B91F-69816C3C84E3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F2FF8D8C-48DE-4930-93A2-11EEBB127D70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6F497E0-E1D1-4FC4-B89D-E4C2A056F719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4E045F3-2825-4899-8361-E3423EBC5D72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2E31A376-8196-4CB3-9E33-482F201CCEEC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731A067-5274-4AA3-B1F1-1E588D5FBF8C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42DB7D91-985B-437C-82F0-C94EB49312F0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b="0" lang="en-GB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GB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GB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GB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GB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GB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GB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GB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" name="Image 1" descr="preencoded.png"/>
          <p:cNvPicPr/>
          <p:nvPr/>
        </p:nvPicPr>
        <p:blipFill>
          <a:blip r:embed="rId2"/>
          <a:stretch/>
        </p:blipFill>
        <p:spPr>
          <a:xfrm>
            <a:off x="285840" y="214200"/>
            <a:ext cx="142848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Text 0"/>
          <p:cNvSpPr/>
          <p:nvPr/>
        </p:nvSpPr>
        <p:spPr>
          <a:xfrm>
            <a:off x="6920280" y="214200"/>
            <a:ext cx="1937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 anchorCtr="1">
            <a:spAutoFit/>
          </a:bodyPr>
          <a:p>
            <a:pPr algn="r"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Nguyễn Minh Triết - 523H0107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1"/>
          <p:cNvSpPr/>
          <p:nvPr/>
        </p:nvSpPr>
        <p:spPr>
          <a:xfrm>
            <a:off x="6926760" y="488520"/>
            <a:ext cx="19314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 anchorCtr="1">
            <a:spAutoFit/>
          </a:bodyPr>
          <a:p>
            <a:pPr algn="r"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Nguyễn Phúc Toàn - 523H0185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"/>
          <p:cNvSpPr/>
          <p:nvPr/>
        </p:nvSpPr>
        <p:spPr>
          <a:xfrm>
            <a:off x="6682680" y="848520"/>
            <a:ext cx="217548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 anchorCtr="1">
            <a:spAutoFit/>
          </a:bodyPr>
          <a:p>
            <a:pPr algn="r" defTabSz="914400">
              <a:lnSpc>
                <a:spcPts val="2200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Instructor: Dr. Tran Thi Thanh Diu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3"/>
          <p:cNvSpPr/>
          <p:nvPr/>
        </p:nvSpPr>
        <p:spPr>
          <a:xfrm>
            <a:off x="1357200" y="1531800"/>
            <a:ext cx="6428880" cy="20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10120" rIns="510120" tIns="0" bIns="0" anchor="t">
            <a:spAutoFit/>
          </a:bodyPr>
          <a:p>
            <a:pPr algn="ctr" defTabSz="914400">
              <a:lnSpc>
                <a:spcPts val="4099"/>
              </a:lnSpc>
              <a:tabLst>
                <a:tab algn="l" pos="0"/>
              </a:tabLst>
            </a:pPr>
            <a:r>
              <a:rPr b="1" lang="en-US" sz="286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A Study of Salaries in Artificial Intelligence, Machine Learning and Data Science Globally</a:t>
            </a:r>
            <a:endParaRPr b="0" lang="en-GB" sz="28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Text 0"/>
          <p:cNvSpPr/>
          <p:nvPr/>
        </p:nvSpPr>
        <p:spPr>
          <a:xfrm>
            <a:off x="428760" y="357120"/>
            <a:ext cx="8286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Dataset Overview: Global AI/ML/Data Science Salaries</a:t>
            </a:r>
            <a:endParaRPr b="0" lang="en-GB" sz="2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"/>
          <p:cNvSpPr/>
          <p:nvPr/>
        </p:nvSpPr>
        <p:spPr>
          <a:xfrm>
            <a:off x="428760" y="878760"/>
            <a:ext cx="82864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Dataset Source: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2"/>
          <p:cNvSpPr/>
          <p:nvPr/>
        </p:nvSpPr>
        <p:spPr>
          <a:xfrm>
            <a:off x="428760" y="1264320"/>
            <a:ext cx="8286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Kaggle:</a:t>
            </a: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 "Global Salaries in AI, ML &amp; Data Science"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Time Period:</a:t>
            </a: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 2020-2024 (captures COVID-19 impact and post-pandemic trends)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3"/>
          <p:cNvSpPr/>
          <p:nvPr/>
        </p:nvSpPr>
        <p:spPr>
          <a:xfrm>
            <a:off x="428760" y="1955880"/>
            <a:ext cx="82864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Key Characteristics: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4"/>
          <p:cNvSpPr/>
          <p:nvPr/>
        </p:nvSpPr>
        <p:spPr>
          <a:xfrm>
            <a:off x="600120" y="2363040"/>
            <a:ext cx="388224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Records: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5"/>
          <p:cNvSpPr/>
          <p:nvPr/>
        </p:nvSpPr>
        <p:spPr>
          <a:xfrm>
            <a:off x="600120" y="2666880"/>
            <a:ext cx="2336040" cy="2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16,185 salary entries globally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6"/>
          <p:cNvSpPr/>
          <p:nvPr/>
        </p:nvSpPr>
        <p:spPr>
          <a:xfrm>
            <a:off x="4832640" y="2363040"/>
            <a:ext cx="388224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Features: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7"/>
          <p:cNvSpPr/>
          <p:nvPr/>
        </p:nvSpPr>
        <p:spPr>
          <a:xfrm>
            <a:off x="4832640" y="2666880"/>
            <a:ext cx="3214440" cy="2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11 columns covering demographics and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8"/>
          <p:cNvSpPr/>
          <p:nvPr/>
        </p:nvSpPr>
        <p:spPr>
          <a:xfrm>
            <a:off x="4832640" y="2923920"/>
            <a:ext cx="1148040" cy="2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compensation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9"/>
          <p:cNvSpPr/>
          <p:nvPr/>
        </p:nvSpPr>
        <p:spPr>
          <a:xfrm>
            <a:off x="600120" y="3349080"/>
            <a:ext cx="388224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Coverage: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0"/>
          <p:cNvSpPr/>
          <p:nvPr/>
        </p:nvSpPr>
        <p:spPr>
          <a:xfrm>
            <a:off x="600120" y="3652560"/>
            <a:ext cx="3164040" cy="2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Multiple countries with USD conversion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1"/>
          <p:cNvSpPr/>
          <p:nvPr/>
        </p:nvSpPr>
        <p:spPr>
          <a:xfrm>
            <a:off x="4832640" y="3349080"/>
            <a:ext cx="388224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Focus: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2"/>
          <p:cNvSpPr/>
          <p:nvPr/>
        </p:nvSpPr>
        <p:spPr>
          <a:xfrm>
            <a:off x="4832640" y="3652560"/>
            <a:ext cx="3089880" cy="2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AI, ML, and Data Science professionals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Text 0"/>
          <p:cNvSpPr/>
          <p:nvPr/>
        </p:nvSpPr>
        <p:spPr>
          <a:xfrm>
            <a:off x="428760" y="357120"/>
            <a:ext cx="8286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Dataset Structure (Part 1 of 2)</a:t>
            </a:r>
            <a:endParaRPr b="0" lang="en-GB" sz="2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"/>
          <p:cNvSpPr/>
          <p:nvPr/>
        </p:nvSpPr>
        <p:spPr>
          <a:xfrm>
            <a:off x="428760" y="878760"/>
            <a:ext cx="828648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The dataset contains 11 features. First 6 features: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2"/>
          <p:cNvSpPr/>
          <p:nvPr/>
        </p:nvSpPr>
        <p:spPr>
          <a:xfrm>
            <a:off x="428760" y="1278720"/>
            <a:ext cx="2319840" cy="392400"/>
          </a:xfrm>
          <a:prstGeom prst="rect">
            <a:avLst/>
          </a:prstGeom>
          <a:solidFill>
            <a:srgbClr val="1a54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3"/>
          <p:cNvSpPr/>
          <p:nvPr/>
        </p:nvSpPr>
        <p:spPr>
          <a:xfrm>
            <a:off x="428760" y="1278720"/>
            <a:ext cx="2319840" cy="39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69920" rIns="169920" tIns="127440" bIns="8640" anchor="ctr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Feature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4"/>
          <p:cNvSpPr/>
          <p:nvPr/>
        </p:nvSpPr>
        <p:spPr>
          <a:xfrm>
            <a:off x="2748960" y="1278720"/>
            <a:ext cx="5966280" cy="392400"/>
          </a:xfrm>
          <a:prstGeom prst="rect">
            <a:avLst/>
          </a:prstGeom>
          <a:solidFill>
            <a:srgbClr val="1a54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5"/>
          <p:cNvSpPr/>
          <p:nvPr/>
        </p:nvSpPr>
        <p:spPr>
          <a:xfrm>
            <a:off x="2748960" y="1278720"/>
            <a:ext cx="5966280" cy="39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69920" rIns="169920" tIns="127440" bIns="8640" anchor="ctr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Description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6"/>
          <p:cNvSpPr/>
          <p:nvPr/>
        </p:nvSpPr>
        <p:spPr>
          <a:xfrm>
            <a:off x="428760" y="1671480"/>
            <a:ext cx="231984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work_year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7"/>
          <p:cNvSpPr/>
          <p:nvPr/>
        </p:nvSpPr>
        <p:spPr>
          <a:xfrm>
            <a:off x="2748960" y="1671480"/>
            <a:ext cx="596628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Year of salary payment (2020-2024)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8"/>
          <p:cNvSpPr/>
          <p:nvPr/>
        </p:nvSpPr>
        <p:spPr>
          <a:xfrm>
            <a:off x="428760" y="2032920"/>
            <a:ext cx="23198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experience_level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9"/>
          <p:cNvSpPr/>
          <p:nvPr/>
        </p:nvSpPr>
        <p:spPr>
          <a:xfrm>
            <a:off x="2748960" y="2032920"/>
            <a:ext cx="596628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Entry, Mid, Senior, Executive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0"/>
          <p:cNvSpPr/>
          <p:nvPr/>
        </p:nvSpPr>
        <p:spPr>
          <a:xfrm>
            <a:off x="428760" y="2401560"/>
            <a:ext cx="23198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employment_type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1"/>
          <p:cNvSpPr/>
          <p:nvPr/>
        </p:nvSpPr>
        <p:spPr>
          <a:xfrm>
            <a:off x="2748960" y="2401560"/>
            <a:ext cx="596628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Full-time, Part-time, Contract, Freelance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2"/>
          <p:cNvSpPr/>
          <p:nvPr/>
        </p:nvSpPr>
        <p:spPr>
          <a:xfrm>
            <a:off x="428760" y="2770200"/>
            <a:ext cx="23198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job_title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3"/>
          <p:cNvSpPr/>
          <p:nvPr/>
        </p:nvSpPr>
        <p:spPr>
          <a:xfrm>
            <a:off x="2748960" y="2770200"/>
            <a:ext cx="596628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Specific role (e.g., Data Scientist, ML Engineer)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4"/>
          <p:cNvSpPr/>
          <p:nvPr/>
        </p:nvSpPr>
        <p:spPr>
          <a:xfrm>
            <a:off x="428760" y="3138840"/>
            <a:ext cx="23198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salary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5"/>
          <p:cNvSpPr/>
          <p:nvPr/>
        </p:nvSpPr>
        <p:spPr>
          <a:xfrm>
            <a:off x="2748960" y="3138840"/>
            <a:ext cx="596628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Gross salary in original currency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6"/>
          <p:cNvSpPr/>
          <p:nvPr/>
        </p:nvSpPr>
        <p:spPr>
          <a:xfrm>
            <a:off x="428760" y="3507480"/>
            <a:ext cx="231984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salary_currency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7"/>
          <p:cNvSpPr/>
          <p:nvPr/>
        </p:nvSpPr>
        <p:spPr>
          <a:xfrm>
            <a:off x="2748960" y="3507480"/>
            <a:ext cx="596628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Currency code (e.g., USD, EUR, GBP)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Text 0"/>
          <p:cNvSpPr/>
          <p:nvPr/>
        </p:nvSpPr>
        <p:spPr>
          <a:xfrm>
            <a:off x="428760" y="357120"/>
            <a:ext cx="8286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Dataset Structure (Part 2 of 2)</a:t>
            </a:r>
            <a:endParaRPr b="0" lang="en-GB" sz="2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"/>
          <p:cNvSpPr/>
          <p:nvPr/>
        </p:nvSpPr>
        <p:spPr>
          <a:xfrm>
            <a:off x="428760" y="878760"/>
            <a:ext cx="828648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Remaining 5 features: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2"/>
          <p:cNvSpPr/>
          <p:nvPr/>
        </p:nvSpPr>
        <p:spPr>
          <a:xfrm>
            <a:off x="428760" y="1278720"/>
            <a:ext cx="2485800" cy="392400"/>
          </a:xfrm>
          <a:prstGeom prst="rect">
            <a:avLst/>
          </a:prstGeom>
          <a:solidFill>
            <a:srgbClr val="1a54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3"/>
          <p:cNvSpPr/>
          <p:nvPr/>
        </p:nvSpPr>
        <p:spPr>
          <a:xfrm>
            <a:off x="428760" y="1278720"/>
            <a:ext cx="2485800" cy="39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69920" rIns="169920" tIns="127440" bIns="8640" anchor="ctr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Feature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4"/>
          <p:cNvSpPr/>
          <p:nvPr/>
        </p:nvSpPr>
        <p:spPr>
          <a:xfrm>
            <a:off x="2914560" y="1278720"/>
            <a:ext cx="5800320" cy="392400"/>
          </a:xfrm>
          <a:prstGeom prst="rect">
            <a:avLst/>
          </a:prstGeom>
          <a:solidFill>
            <a:srgbClr val="1a54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5"/>
          <p:cNvSpPr/>
          <p:nvPr/>
        </p:nvSpPr>
        <p:spPr>
          <a:xfrm>
            <a:off x="2914560" y="1278720"/>
            <a:ext cx="5800320" cy="39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69920" rIns="169920" tIns="127440" bIns="8640" anchor="ctr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Description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6"/>
          <p:cNvSpPr/>
          <p:nvPr/>
        </p:nvSpPr>
        <p:spPr>
          <a:xfrm>
            <a:off x="428760" y="1671480"/>
            <a:ext cx="248580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salary_in_usd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7"/>
          <p:cNvSpPr/>
          <p:nvPr/>
        </p:nvSpPr>
        <p:spPr>
          <a:xfrm>
            <a:off x="2914560" y="1671480"/>
            <a:ext cx="580032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Salary converted to USD (target variable)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8"/>
          <p:cNvSpPr/>
          <p:nvPr/>
        </p:nvSpPr>
        <p:spPr>
          <a:xfrm>
            <a:off x="428760" y="2032920"/>
            <a:ext cx="248580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employee_residence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9"/>
          <p:cNvSpPr/>
          <p:nvPr/>
        </p:nvSpPr>
        <p:spPr>
          <a:xfrm>
            <a:off x="2914560" y="2032920"/>
            <a:ext cx="580032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Country where employee resides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0"/>
          <p:cNvSpPr/>
          <p:nvPr/>
        </p:nvSpPr>
        <p:spPr>
          <a:xfrm>
            <a:off x="428760" y="2401560"/>
            <a:ext cx="248580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remote_ratio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1"/>
          <p:cNvSpPr/>
          <p:nvPr/>
        </p:nvSpPr>
        <p:spPr>
          <a:xfrm>
            <a:off x="2914560" y="2401560"/>
            <a:ext cx="580032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0% (on-site), 50% (hybrid), 100% (remote)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2"/>
          <p:cNvSpPr/>
          <p:nvPr/>
        </p:nvSpPr>
        <p:spPr>
          <a:xfrm>
            <a:off x="428760" y="2770200"/>
            <a:ext cx="248580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company_location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3"/>
          <p:cNvSpPr/>
          <p:nvPr/>
        </p:nvSpPr>
        <p:spPr>
          <a:xfrm>
            <a:off x="2914560" y="2770200"/>
            <a:ext cx="580032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Country where company is located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4"/>
          <p:cNvSpPr/>
          <p:nvPr/>
        </p:nvSpPr>
        <p:spPr>
          <a:xfrm>
            <a:off x="428760" y="3138840"/>
            <a:ext cx="248580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company_size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5"/>
          <p:cNvSpPr/>
          <p:nvPr/>
        </p:nvSpPr>
        <p:spPr>
          <a:xfrm>
            <a:off x="2914560" y="3138840"/>
            <a:ext cx="580032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920" rIns="169920" tIns="127440" bIns="8640" anchor="ctr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Small, Medium, Large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6"/>
          <p:cNvSpPr/>
          <p:nvPr/>
        </p:nvSpPr>
        <p:spPr>
          <a:xfrm>
            <a:off x="428760" y="3714840"/>
            <a:ext cx="82864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Central Research Question: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7"/>
          <p:cNvSpPr/>
          <p:nvPr/>
        </p:nvSpPr>
        <p:spPr>
          <a:xfrm>
            <a:off x="428760" y="4122000"/>
            <a:ext cx="8286480" cy="5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1276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i="1" lang="en-US" sz="13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Does working fully remotely correlate to a higher salary than on-site or hybrid work in the AI/ML/Data Science field?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Text 0"/>
          <p:cNvSpPr/>
          <p:nvPr/>
        </p:nvSpPr>
        <p:spPr>
          <a:xfrm>
            <a:off x="428760" y="357120"/>
            <a:ext cx="8286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Data Cleaning Process</a:t>
            </a:r>
            <a:endParaRPr b="0" lang="en-GB" sz="2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"/>
          <p:cNvSpPr/>
          <p:nvPr/>
        </p:nvSpPr>
        <p:spPr>
          <a:xfrm>
            <a:off x="428760" y="914400"/>
            <a:ext cx="82864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Initial Data Quality Checks: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"/>
          <p:cNvSpPr/>
          <p:nvPr/>
        </p:nvSpPr>
        <p:spPr>
          <a:xfrm>
            <a:off x="642960" y="1464480"/>
            <a:ext cx="362520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1. Missing Values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3"/>
          <p:cNvSpPr/>
          <p:nvPr/>
        </p:nvSpPr>
        <p:spPr>
          <a:xfrm>
            <a:off x="642960" y="1814400"/>
            <a:ext cx="362520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No missing values detected across all 11 features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4"/>
          <p:cNvSpPr/>
          <p:nvPr/>
        </p:nvSpPr>
        <p:spPr>
          <a:xfrm>
            <a:off x="4911480" y="1464480"/>
            <a:ext cx="362520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2. Duplicate Records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5"/>
          <p:cNvSpPr/>
          <p:nvPr/>
        </p:nvSpPr>
        <p:spPr>
          <a:xfrm>
            <a:off x="4911480" y="1814400"/>
            <a:ext cx="362520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Identified and removed duplicate salary entries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6"/>
          <p:cNvSpPr/>
          <p:nvPr/>
        </p:nvSpPr>
        <p:spPr>
          <a:xfrm>
            <a:off x="642960" y="2721600"/>
            <a:ext cx="362520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3. Data Types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7"/>
          <p:cNvSpPr/>
          <p:nvPr/>
        </p:nvSpPr>
        <p:spPr>
          <a:xfrm>
            <a:off x="642960" y="3071880"/>
            <a:ext cx="362520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Verified appropriate types for numerical and categorical features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8"/>
          <p:cNvSpPr/>
          <p:nvPr/>
        </p:nvSpPr>
        <p:spPr>
          <a:xfrm>
            <a:off x="4911480" y="2721600"/>
            <a:ext cx="362520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4. Outlier Detection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9"/>
          <p:cNvSpPr/>
          <p:nvPr/>
        </p:nvSpPr>
        <p:spPr>
          <a:xfrm>
            <a:off x="4911480" y="3071880"/>
            <a:ext cx="362520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Applied MAD (Median Absolute Deviation) method for robust identification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0"/>
          <p:cNvSpPr/>
          <p:nvPr/>
        </p:nvSpPr>
        <p:spPr>
          <a:xfrm>
            <a:off x="428760" y="3971880"/>
            <a:ext cx="82864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Cleaning Results: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1"/>
          <p:cNvSpPr/>
          <p:nvPr/>
        </p:nvSpPr>
        <p:spPr>
          <a:xfrm>
            <a:off x="428760" y="4357800"/>
            <a:ext cx="8286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Original records:</a:t>
            </a: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 16,185 entries → </a:t>
            </a: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Clean records:</a:t>
            </a: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 15,663 entries after removing duplicates and outliers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 0"/>
          <p:cNvSpPr/>
          <p:nvPr/>
        </p:nvSpPr>
        <p:spPr>
          <a:xfrm>
            <a:off x="428760" y="357120"/>
            <a:ext cx="8286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Feature Engineering and Transformations</a:t>
            </a:r>
            <a:endParaRPr b="0" lang="en-GB" sz="2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"/>
          <p:cNvSpPr/>
          <p:nvPr/>
        </p:nvSpPr>
        <p:spPr>
          <a:xfrm>
            <a:off x="428760" y="843120"/>
            <a:ext cx="828648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Data Transformation Techniques: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"/>
          <p:cNvSpPr/>
          <p:nvPr/>
        </p:nvSpPr>
        <p:spPr>
          <a:xfrm>
            <a:off x="642960" y="1228680"/>
            <a:ext cx="789336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1. Ordinal Encoding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3"/>
          <p:cNvSpPr/>
          <p:nvPr/>
        </p:nvSpPr>
        <p:spPr>
          <a:xfrm>
            <a:off x="642960" y="1550160"/>
            <a:ext cx="7893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Applied to ordered categorical variables with natural ranking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4"/>
          <p:cNvSpPr/>
          <p:nvPr/>
        </p:nvSpPr>
        <p:spPr>
          <a:xfrm>
            <a:off x="642960" y="1807200"/>
            <a:ext cx="7893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i="1" lang="en-US" sz="120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experience_level: Entry → Mid → Senior → Executive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1" i="1" lang="en-US" sz="120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 company_size: Small → Medium → Large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5"/>
          <p:cNvSpPr/>
          <p:nvPr/>
        </p:nvSpPr>
        <p:spPr>
          <a:xfrm>
            <a:off x="642960" y="2421720"/>
            <a:ext cx="789336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2. One-Hot Encoding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6"/>
          <p:cNvSpPr/>
          <p:nvPr/>
        </p:nvSpPr>
        <p:spPr>
          <a:xfrm>
            <a:off x="642960" y="2743200"/>
            <a:ext cx="7893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Applied to nominal categorical variables without inherent order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7"/>
          <p:cNvSpPr/>
          <p:nvPr/>
        </p:nvSpPr>
        <p:spPr>
          <a:xfrm>
            <a:off x="642960" y="3000240"/>
            <a:ext cx="7893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1" i="1" lang="en-US" sz="120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job_title, company_location, employee_residence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8"/>
          <p:cNvSpPr/>
          <p:nvPr/>
        </p:nvSpPr>
        <p:spPr>
          <a:xfrm>
            <a:off x="642960" y="3386160"/>
            <a:ext cx="789336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3. Log Transformation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9"/>
          <p:cNvSpPr/>
          <p:nvPr/>
        </p:nvSpPr>
        <p:spPr>
          <a:xfrm>
            <a:off x="642960" y="3707640"/>
            <a:ext cx="7893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Applied to salary_in_usd to reduce right skewness and normalize distribution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0"/>
          <p:cNvSpPr/>
          <p:nvPr/>
        </p:nvSpPr>
        <p:spPr>
          <a:xfrm>
            <a:off x="642960" y="3964680"/>
            <a:ext cx="7893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1" i="1" lang="en-US" sz="120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log(salary_in_usd) for improved statistical modeling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1"/>
          <p:cNvSpPr/>
          <p:nvPr/>
        </p:nvSpPr>
        <p:spPr>
          <a:xfrm>
            <a:off x="428760" y="4278960"/>
            <a:ext cx="828648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8496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Result:</a:t>
            </a: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 Dataset ready for statistical testing, correlation analysis, and regression modeling with properly encoded features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ext 0"/>
          <p:cNvSpPr/>
          <p:nvPr/>
        </p:nvSpPr>
        <p:spPr>
          <a:xfrm>
            <a:off x="428760" y="357120"/>
            <a:ext cx="8286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Descriptive Statistics Summary</a:t>
            </a:r>
            <a:endParaRPr b="0" lang="en-GB" sz="2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1"/>
          <p:cNvSpPr/>
          <p:nvPr/>
        </p:nvSpPr>
        <p:spPr>
          <a:xfrm>
            <a:off x="428760" y="843120"/>
            <a:ext cx="2071440" cy="371160"/>
          </a:xfrm>
          <a:prstGeom prst="rect">
            <a:avLst/>
          </a:prstGeom>
          <a:solidFill>
            <a:srgbClr val="1a54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"/>
          <p:cNvSpPr/>
          <p:nvPr/>
        </p:nvSpPr>
        <p:spPr>
          <a:xfrm>
            <a:off x="428760" y="843120"/>
            <a:ext cx="20714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102240" bIns="8640" anchor="ctr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Statistic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3"/>
          <p:cNvSpPr/>
          <p:nvPr/>
        </p:nvSpPr>
        <p:spPr>
          <a:xfrm>
            <a:off x="2500200" y="843120"/>
            <a:ext cx="2071440" cy="371160"/>
          </a:xfrm>
          <a:prstGeom prst="rect">
            <a:avLst/>
          </a:prstGeom>
          <a:solidFill>
            <a:srgbClr val="1a54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4"/>
          <p:cNvSpPr/>
          <p:nvPr/>
        </p:nvSpPr>
        <p:spPr>
          <a:xfrm>
            <a:off x="2500200" y="843120"/>
            <a:ext cx="20714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102240" bIns="8640" anchor="ctr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Value (USD)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5"/>
          <p:cNvSpPr/>
          <p:nvPr/>
        </p:nvSpPr>
        <p:spPr>
          <a:xfrm>
            <a:off x="4572000" y="843120"/>
            <a:ext cx="4142880" cy="371160"/>
          </a:xfrm>
          <a:prstGeom prst="rect">
            <a:avLst/>
          </a:prstGeom>
          <a:solidFill>
            <a:srgbClr val="1a54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4572000" y="843120"/>
            <a:ext cx="4142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102240" bIns="8640" anchor="ctr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Interpretation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7"/>
          <p:cNvSpPr/>
          <p:nvPr/>
        </p:nvSpPr>
        <p:spPr>
          <a:xfrm>
            <a:off x="428760" y="1214280"/>
            <a:ext cx="207144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84960" bIns="8640" anchor="ctr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Count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8"/>
          <p:cNvSpPr/>
          <p:nvPr/>
        </p:nvSpPr>
        <p:spPr>
          <a:xfrm>
            <a:off x="2500200" y="1214280"/>
            <a:ext cx="207144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84960" bIns="8640" anchor="ctr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15,663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9"/>
          <p:cNvSpPr/>
          <p:nvPr/>
        </p:nvSpPr>
        <p:spPr>
          <a:xfrm>
            <a:off x="4572000" y="1214280"/>
            <a:ext cx="41428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84960" bIns="8640" anchor="ctr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Total records after cleaning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0"/>
          <p:cNvSpPr/>
          <p:nvPr/>
        </p:nvSpPr>
        <p:spPr>
          <a:xfrm>
            <a:off x="428760" y="1557360"/>
            <a:ext cx="207144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84960" bIns="8640" anchor="ctr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Mean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1"/>
          <p:cNvSpPr/>
          <p:nvPr/>
        </p:nvSpPr>
        <p:spPr>
          <a:xfrm>
            <a:off x="2500200" y="1557360"/>
            <a:ext cx="207144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84960" bIns="8640" anchor="ctr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$152,635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2"/>
          <p:cNvSpPr/>
          <p:nvPr/>
        </p:nvSpPr>
        <p:spPr>
          <a:xfrm>
            <a:off x="4572000" y="1557360"/>
            <a:ext cx="414288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84960" bIns="8640" anchor="ctr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Average (pulled up by high earners)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3"/>
          <p:cNvSpPr/>
          <p:nvPr/>
        </p:nvSpPr>
        <p:spPr>
          <a:xfrm>
            <a:off x="428760" y="1907280"/>
            <a:ext cx="207144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84960" bIns="8640" anchor="ctr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Median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4"/>
          <p:cNvSpPr/>
          <p:nvPr/>
        </p:nvSpPr>
        <p:spPr>
          <a:xfrm>
            <a:off x="2500200" y="1907280"/>
            <a:ext cx="207144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84960" bIns="8640" anchor="ctr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$141,300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5"/>
          <p:cNvSpPr/>
          <p:nvPr/>
        </p:nvSpPr>
        <p:spPr>
          <a:xfrm>
            <a:off x="4572000" y="1907280"/>
            <a:ext cx="414288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84960" bIns="8640" anchor="ctr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Middle value, less affected by outliers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6"/>
          <p:cNvSpPr/>
          <p:nvPr/>
        </p:nvSpPr>
        <p:spPr>
          <a:xfrm>
            <a:off x="428760" y="2257560"/>
            <a:ext cx="207144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84960" bIns="8640" anchor="ctr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Std Dev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7"/>
          <p:cNvSpPr/>
          <p:nvPr/>
        </p:nvSpPr>
        <p:spPr>
          <a:xfrm>
            <a:off x="2500200" y="2257560"/>
            <a:ext cx="207144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84960" bIns="8640" anchor="ctr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$66,992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8"/>
          <p:cNvSpPr/>
          <p:nvPr/>
        </p:nvSpPr>
        <p:spPr>
          <a:xfrm>
            <a:off x="4572000" y="2257560"/>
            <a:ext cx="414288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84960" bIns="8640" anchor="ctr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High variability in salaries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9"/>
          <p:cNvSpPr/>
          <p:nvPr/>
        </p:nvSpPr>
        <p:spPr>
          <a:xfrm>
            <a:off x="428760" y="2607480"/>
            <a:ext cx="207144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84960" bIns="8640" anchor="ctr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Min / Max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0"/>
          <p:cNvSpPr/>
          <p:nvPr/>
        </p:nvSpPr>
        <p:spPr>
          <a:xfrm>
            <a:off x="2500200" y="2607480"/>
            <a:ext cx="207144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84960" bIns="8640" anchor="ctr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$15k / $800k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1"/>
          <p:cNvSpPr/>
          <p:nvPr/>
        </p:nvSpPr>
        <p:spPr>
          <a:xfrm>
            <a:off x="4572000" y="2607480"/>
            <a:ext cx="414288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84960" bIns="8640" anchor="ctr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Entry-level to senior executives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22"/>
          <p:cNvSpPr/>
          <p:nvPr/>
        </p:nvSpPr>
        <p:spPr>
          <a:xfrm>
            <a:off x="428760" y="2957400"/>
            <a:ext cx="207144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84960" bIns="8640" anchor="ctr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Q1 / Q3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23"/>
          <p:cNvSpPr/>
          <p:nvPr/>
        </p:nvSpPr>
        <p:spPr>
          <a:xfrm>
            <a:off x="2500200" y="2957400"/>
            <a:ext cx="207144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84960" bIns="8640" anchor="ctr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$105k / $185k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4"/>
          <p:cNvSpPr/>
          <p:nvPr/>
        </p:nvSpPr>
        <p:spPr>
          <a:xfrm>
            <a:off x="4572000" y="2957400"/>
            <a:ext cx="41428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53000" rIns="153000" tIns="84960" bIns="8640" anchor="ctr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IQR = $80,000 (middle 50% spread)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5"/>
          <p:cNvSpPr/>
          <p:nvPr/>
        </p:nvSpPr>
        <p:spPr>
          <a:xfrm>
            <a:off x="428760" y="3443400"/>
            <a:ext cx="82864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Key Insights: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6"/>
          <p:cNvSpPr/>
          <p:nvPr/>
        </p:nvSpPr>
        <p:spPr>
          <a:xfrm>
            <a:off x="428760" y="3814920"/>
            <a:ext cx="828648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Mean &gt; Median indicates </a:t>
            </a: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right-skewed distribution</a:t>
            </a: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. Large standard deviation reflects </a:t>
            </a: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wide salary range</a:t>
            </a: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 across experience levels and roles.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Text 0"/>
          <p:cNvSpPr/>
          <p:nvPr/>
        </p:nvSpPr>
        <p:spPr>
          <a:xfrm>
            <a:off x="428760" y="357120"/>
            <a:ext cx="8286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Salary Distribution Shows Heavy Right Skew</a:t>
            </a:r>
            <a:endParaRPr b="0" lang="en-GB" sz="2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Image 1" descr="preencoded.png"/>
          <p:cNvPicPr/>
          <p:nvPr/>
        </p:nvPicPr>
        <p:blipFill>
          <a:blip r:embed="rId2"/>
          <a:stretch/>
        </p:blipFill>
        <p:spPr>
          <a:xfrm>
            <a:off x="428760" y="843120"/>
            <a:ext cx="4660920" cy="400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Text 1"/>
          <p:cNvSpPr/>
          <p:nvPr/>
        </p:nvSpPr>
        <p:spPr>
          <a:xfrm>
            <a:off x="5339880" y="843120"/>
            <a:ext cx="337500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Distribution Shape: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"/>
          <p:cNvSpPr/>
          <p:nvPr/>
        </p:nvSpPr>
        <p:spPr>
          <a:xfrm>
            <a:off x="5339880" y="1200240"/>
            <a:ext cx="337500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Heavy concentration in $100k-$150k range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3"/>
          <p:cNvSpPr/>
          <p:nvPr/>
        </p:nvSpPr>
        <p:spPr>
          <a:xfrm>
            <a:off x="5339880" y="1771560"/>
            <a:ext cx="337500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Long right tail extending to $800k+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4"/>
          <p:cNvSpPr/>
          <p:nvPr/>
        </p:nvSpPr>
        <p:spPr>
          <a:xfrm>
            <a:off x="5339880" y="2085840"/>
            <a:ext cx="337500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Positive skewness confirmed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5"/>
          <p:cNvSpPr/>
          <p:nvPr/>
        </p:nvSpPr>
        <p:spPr>
          <a:xfrm>
            <a:off x="5339880" y="2450160"/>
            <a:ext cx="337500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Implications: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6"/>
          <p:cNvSpPr/>
          <p:nvPr/>
        </p:nvSpPr>
        <p:spPr>
          <a:xfrm>
            <a:off x="5339880" y="2807640"/>
            <a:ext cx="337500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Most professionals earn moderate salaries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7"/>
          <p:cNvSpPr/>
          <p:nvPr/>
        </p:nvSpPr>
        <p:spPr>
          <a:xfrm>
            <a:off x="5339880" y="3378960"/>
            <a:ext cx="337500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Small proportion of high earners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8"/>
          <p:cNvSpPr/>
          <p:nvPr/>
        </p:nvSpPr>
        <p:spPr>
          <a:xfrm>
            <a:off x="5339880" y="3693240"/>
            <a:ext cx="337500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Requires robust statistical methods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9"/>
          <p:cNvSpPr/>
          <p:nvPr/>
        </p:nvSpPr>
        <p:spPr>
          <a:xfrm>
            <a:off x="5339880" y="4079160"/>
            <a:ext cx="337500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Right-skewed pattern justifies use of median over mean for central tendency analysis.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Text 0"/>
          <p:cNvSpPr/>
          <p:nvPr/>
        </p:nvSpPr>
        <p:spPr>
          <a:xfrm>
            <a:off x="428760" y="357120"/>
            <a:ext cx="8286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Boxplot Reveals Outliers and Quartile Structure</a:t>
            </a:r>
            <a:endParaRPr b="0" lang="en-GB" sz="2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Image 1" descr="preencoded.png"/>
          <p:cNvPicPr/>
          <p:nvPr/>
        </p:nvPicPr>
        <p:blipFill>
          <a:blip r:embed="rId2"/>
          <a:stretch/>
        </p:blipFill>
        <p:spPr>
          <a:xfrm>
            <a:off x="428760" y="843120"/>
            <a:ext cx="4660920" cy="400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Text 1"/>
          <p:cNvSpPr/>
          <p:nvPr/>
        </p:nvSpPr>
        <p:spPr>
          <a:xfrm>
            <a:off x="5339880" y="843120"/>
            <a:ext cx="337500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Boxplot Components: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"/>
          <p:cNvSpPr/>
          <p:nvPr/>
        </p:nvSpPr>
        <p:spPr>
          <a:xfrm>
            <a:off x="5339880" y="1200240"/>
            <a:ext cx="337500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Box: IQR from Q1 ($105k) to Q3 ($185k)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3"/>
          <p:cNvSpPr/>
          <p:nvPr/>
        </p:nvSpPr>
        <p:spPr>
          <a:xfrm>
            <a:off x="5339880" y="1514520"/>
            <a:ext cx="337500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Median line: ~$141k (center of box)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4"/>
          <p:cNvSpPr/>
          <p:nvPr/>
        </p:nvSpPr>
        <p:spPr>
          <a:xfrm>
            <a:off x="5339880" y="1828800"/>
            <a:ext cx="337500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Whiskers: Extend to min/max within 1.5×IQR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5"/>
          <p:cNvSpPr/>
          <p:nvPr/>
        </p:nvSpPr>
        <p:spPr>
          <a:xfrm>
            <a:off x="5339880" y="2400480"/>
            <a:ext cx="337500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Outliers: Points beyond whiskers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6"/>
          <p:cNvSpPr/>
          <p:nvPr/>
        </p:nvSpPr>
        <p:spPr>
          <a:xfrm>
            <a:off x="5339880" y="2764800"/>
            <a:ext cx="337500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Key Observations: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7"/>
          <p:cNvSpPr/>
          <p:nvPr/>
        </p:nvSpPr>
        <p:spPr>
          <a:xfrm>
            <a:off x="5339880" y="3121920"/>
            <a:ext cx="337500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Numerous outliers above upper whisker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8"/>
          <p:cNvSpPr/>
          <p:nvPr/>
        </p:nvSpPr>
        <p:spPr>
          <a:xfrm>
            <a:off x="5339880" y="3436200"/>
            <a:ext cx="337500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Few outliers below lower whisker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9"/>
          <p:cNvSpPr/>
          <p:nvPr/>
        </p:nvSpPr>
        <p:spPr>
          <a:xfrm>
            <a:off x="5339880" y="3750480"/>
            <a:ext cx="337500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Confirms right-skewed distribution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0"/>
          <p:cNvSpPr/>
          <p:nvPr/>
        </p:nvSpPr>
        <p:spPr>
          <a:xfrm>
            <a:off x="5339880" y="4136400"/>
            <a:ext cx="337500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Boxplot complements histogram by clearly showing quartiles, median, and outlier structure.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Text 0"/>
          <p:cNvSpPr/>
          <p:nvPr/>
        </p:nvSpPr>
        <p:spPr>
          <a:xfrm>
            <a:off x="428760" y="357120"/>
            <a:ext cx="8286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Executive and Senior Levels Dominate Top Job Titles</a:t>
            </a:r>
            <a:endParaRPr b="0" lang="en-GB" sz="2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Image 1" descr="preencoded.png"/>
          <p:cNvPicPr/>
          <p:nvPr/>
        </p:nvPicPr>
        <p:blipFill>
          <a:blip r:embed="rId2"/>
          <a:stretch/>
        </p:blipFill>
        <p:spPr>
          <a:xfrm>
            <a:off x="428760" y="828720"/>
            <a:ext cx="8286480" cy="271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Text 1"/>
          <p:cNvSpPr/>
          <p:nvPr/>
        </p:nvSpPr>
        <p:spPr>
          <a:xfrm>
            <a:off x="428760" y="3614760"/>
            <a:ext cx="403596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Key Observations: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"/>
          <p:cNvSpPr/>
          <p:nvPr/>
        </p:nvSpPr>
        <p:spPr>
          <a:xfrm>
            <a:off x="428760" y="3971880"/>
            <a:ext cx="403596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Executive level: &gt;6,000 records maximum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3"/>
          <p:cNvSpPr/>
          <p:nvPr/>
        </p:nvSpPr>
        <p:spPr>
          <a:xfrm>
            <a:off x="428760" y="4272120"/>
            <a:ext cx="403596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Senior level: &lt;3,000 records, consistently second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"/>
          <p:cNvSpPr/>
          <p:nvPr/>
        </p:nvSpPr>
        <p:spPr>
          <a:xfrm>
            <a:off x="428760" y="4572000"/>
            <a:ext cx="403596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Entry exceeds Mid in several roles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5"/>
          <p:cNvSpPr/>
          <p:nvPr/>
        </p:nvSpPr>
        <p:spPr>
          <a:xfrm>
            <a:off x="4679280" y="3614760"/>
            <a:ext cx="403596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Implications: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6"/>
          <p:cNvSpPr/>
          <p:nvPr/>
        </p:nvSpPr>
        <p:spPr>
          <a:xfrm>
            <a:off x="4679280" y="3971880"/>
            <a:ext cx="403596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Dataset focuses on professionals and executives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7"/>
          <p:cNvSpPr/>
          <p:nvPr/>
        </p:nvSpPr>
        <p:spPr>
          <a:xfrm>
            <a:off x="4679280" y="4272120"/>
            <a:ext cx="403596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Companies open to early-career hires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8"/>
          <p:cNvSpPr/>
          <p:nvPr/>
        </p:nvSpPr>
        <p:spPr>
          <a:xfrm>
            <a:off x="4679280" y="4572000"/>
            <a:ext cx="403596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Mature job market with career progression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Text 0"/>
          <p:cNvSpPr/>
          <p:nvPr/>
        </p:nvSpPr>
        <p:spPr>
          <a:xfrm>
            <a:off x="428760" y="357120"/>
            <a:ext cx="8286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Hybrid Work Shows Lower Salaries Than On-Site and Remote</a:t>
            </a:r>
            <a:endParaRPr b="0" lang="en-GB" sz="2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Image 1" descr="preencoded.png"/>
          <p:cNvPicPr/>
          <p:nvPr/>
        </p:nvPicPr>
        <p:blipFill>
          <a:blip r:embed="rId2"/>
          <a:stretch/>
        </p:blipFill>
        <p:spPr>
          <a:xfrm>
            <a:off x="428760" y="1171440"/>
            <a:ext cx="4419720" cy="392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" name="Text 1"/>
          <p:cNvSpPr/>
          <p:nvPr/>
        </p:nvSpPr>
        <p:spPr>
          <a:xfrm>
            <a:off x="5098680" y="1171440"/>
            <a:ext cx="361620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Salary Patterns: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"/>
          <p:cNvSpPr/>
          <p:nvPr/>
        </p:nvSpPr>
        <p:spPr>
          <a:xfrm>
            <a:off x="5098680" y="1508760"/>
            <a:ext cx="361620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On-site (0%):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3"/>
          <p:cNvSpPr/>
          <p:nvPr/>
        </p:nvSpPr>
        <p:spPr>
          <a:xfrm>
            <a:off x="5098680" y="1748880"/>
            <a:ext cx="361620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High median, wide IQR, high outliers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4"/>
          <p:cNvSpPr/>
          <p:nvPr/>
        </p:nvSpPr>
        <p:spPr>
          <a:xfrm>
            <a:off x="5098680" y="2045880"/>
            <a:ext cx="361620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Hybrid (50%):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5"/>
          <p:cNvSpPr/>
          <p:nvPr/>
        </p:nvSpPr>
        <p:spPr>
          <a:xfrm>
            <a:off x="5098680" y="2286000"/>
            <a:ext cx="361620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Lower median and IQR, fewer extremes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6"/>
          <p:cNvSpPr/>
          <p:nvPr/>
        </p:nvSpPr>
        <p:spPr>
          <a:xfrm>
            <a:off x="5098680" y="2583000"/>
            <a:ext cx="361620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Fully Remote (100%):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7"/>
          <p:cNvSpPr/>
          <p:nvPr/>
        </p:nvSpPr>
        <p:spPr>
          <a:xfrm>
            <a:off x="5098680" y="2823120"/>
            <a:ext cx="361620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High median similar to on-site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8"/>
          <p:cNvSpPr/>
          <p:nvPr/>
        </p:nvSpPr>
        <p:spPr>
          <a:xfrm>
            <a:off x="5098680" y="3148920"/>
            <a:ext cx="361620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Key Findings: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9"/>
          <p:cNvSpPr/>
          <p:nvPr/>
        </p:nvSpPr>
        <p:spPr>
          <a:xfrm>
            <a:off x="5098680" y="3485880"/>
            <a:ext cx="361620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Hybrid pays less than on-site or remote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0"/>
          <p:cNvSpPr/>
          <p:nvPr/>
        </p:nvSpPr>
        <p:spPr>
          <a:xfrm>
            <a:off x="5098680" y="3768840"/>
            <a:ext cx="361620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On-site and remote offer comparable compensation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1"/>
          <p:cNvSpPr/>
          <p:nvPr/>
        </p:nvSpPr>
        <p:spPr>
          <a:xfrm>
            <a:off x="5098680" y="4291920"/>
            <a:ext cx="361620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Maximum outliers reach $800,000 USD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2"/>
          <p:cNvSpPr/>
          <p:nvPr/>
        </p:nvSpPr>
        <p:spPr>
          <a:xfrm>
            <a:off x="5098680" y="4617720"/>
            <a:ext cx="361620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V-shape pattern suggests hybrid arrangements may be undervalued.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Text 0"/>
          <p:cNvSpPr/>
          <p:nvPr/>
        </p:nvSpPr>
        <p:spPr>
          <a:xfrm>
            <a:off x="428760" y="357120"/>
            <a:ext cx="8286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MAD Method Provides Optimal Balance for Skewed Data</a:t>
            </a:r>
            <a:endParaRPr b="0" lang="en-GB" sz="2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"/>
          <p:cNvSpPr/>
          <p:nvPr/>
        </p:nvSpPr>
        <p:spPr>
          <a:xfrm>
            <a:off x="557280" y="921600"/>
            <a:ext cx="383580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1. IQR Method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"/>
          <p:cNvSpPr/>
          <p:nvPr/>
        </p:nvSpPr>
        <p:spPr>
          <a:xfrm>
            <a:off x="557280" y="1243080"/>
            <a:ext cx="383580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Too aggressive for right-skewed data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7" name="Image 1" descr="preencoded.png"/>
          <p:cNvPicPr/>
          <p:nvPr/>
        </p:nvPicPr>
        <p:blipFill>
          <a:blip r:embed="rId2"/>
          <a:stretch/>
        </p:blipFill>
        <p:spPr>
          <a:xfrm>
            <a:off x="557280" y="1523160"/>
            <a:ext cx="3835800" cy="856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8" name="Text 3"/>
          <p:cNvSpPr/>
          <p:nvPr/>
        </p:nvSpPr>
        <p:spPr>
          <a:xfrm>
            <a:off x="4750560" y="921600"/>
            <a:ext cx="383580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2. Z-score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"/>
          <p:cNvSpPr/>
          <p:nvPr/>
        </p:nvSpPr>
        <p:spPr>
          <a:xfrm>
            <a:off x="4750560" y="1243080"/>
            <a:ext cx="3835800" cy="44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Unreliable due to normality assumption violation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0" name="Image 2" descr="preencoded.png"/>
          <p:cNvPicPr/>
          <p:nvPr/>
        </p:nvPicPr>
        <p:blipFill>
          <a:blip r:embed="rId3"/>
          <a:stretch/>
        </p:blipFill>
        <p:spPr>
          <a:xfrm>
            <a:off x="4750560" y="1746000"/>
            <a:ext cx="3835800" cy="856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Text 5"/>
          <p:cNvSpPr/>
          <p:nvPr/>
        </p:nvSpPr>
        <p:spPr>
          <a:xfrm>
            <a:off x="564480" y="2824560"/>
            <a:ext cx="382140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3. MAD (OPTIMAL)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6"/>
          <p:cNvSpPr/>
          <p:nvPr/>
        </p:nvSpPr>
        <p:spPr>
          <a:xfrm>
            <a:off x="564480" y="3146040"/>
            <a:ext cx="3821400" cy="44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Balances outlier removal with preservation of legitimate high salaries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3" name="Image 3" descr="preencoded.png"/>
          <p:cNvPicPr/>
          <p:nvPr/>
        </p:nvPicPr>
        <p:blipFill>
          <a:blip r:embed="rId4"/>
          <a:stretch/>
        </p:blipFill>
        <p:spPr>
          <a:xfrm>
            <a:off x="564480" y="3648960"/>
            <a:ext cx="3821400" cy="856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Text 7"/>
          <p:cNvSpPr/>
          <p:nvPr/>
        </p:nvSpPr>
        <p:spPr>
          <a:xfrm>
            <a:off x="4750560" y="2817360"/>
            <a:ext cx="383580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4. Isolation Forest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8"/>
          <p:cNvSpPr/>
          <p:nvPr/>
        </p:nvSpPr>
        <p:spPr>
          <a:xfrm>
            <a:off x="4750560" y="3138840"/>
            <a:ext cx="383580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Effective but less interpretable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6" name="Image 4" descr="preencoded.png"/>
          <p:cNvPicPr/>
          <p:nvPr/>
        </p:nvPicPr>
        <p:blipFill>
          <a:blip r:embed="rId5"/>
          <a:stretch/>
        </p:blipFill>
        <p:spPr>
          <a:xfrm>
            <a:off x="4750560" y="3418920"/>
            <a:ext cx="3835800" cy="856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0"/>
          <p:cNvSpPr/>
          <p:nvPr/>
        </p:nvSpPr>
        <p:spPr>
          <a:xfrm>
            <a:off x="428760" y="357120"/>
            <a:ext cx="8286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Log-Normal Distribution Best Fits Salary Data</a:t>
            </a:r>
            <a:endParaRPr b="0" lang="en-GB" sz="2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"/>
          <p:cNvSpPr/>
          <p:nvPr/>
        </p:nvSpPr>
        <p:spPr>
          <a:xfrm>
            <a:off x="428760" y="828720"/>
            <a:ext cx="2666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Original Tests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0" name="Image 1" descr="preencoded.png"/>
          <p:cNvPicPr/>
          <p:nvPr/>
        </p:nvPicPr>
        <p:blipFill>
          <a:blip r:embed="rId2"/>
          <a:stretch/>
        </p:blipFill>
        <p:spPr>
          <a:xfrm>
            <a:off x="428760" y="1178640"/>
            <a:ext cx="2666520" cy="128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1" name="Text 2"/>
          <p:cNvSpPr/>
          <p:nvPr/>
        </p:nvSpPr>
        <p:spPr>
          <a:xfrm>
            <a:off x="428760" y="2536200"/>
            <a:ext cx="26665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Heavy right skew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3"/>
          <p:cNvSpPr/>
          <p:nvPr/>
        </p:nvSpPr>
        <p:spPr>
          <a:xfrm>
            <a:off x="428760" y="2818800"/>
            <a:ext cx="266652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Q-Q Plot: deviation from normal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4"/>
          <p:cNvSpPr/>
          <p:nvPr/>
        </p:nvSpPr>
        <p:spPr>
          <a:xfrm>
            <a:off x="428760" y="3341880"/>
            <a:ext cx="26665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Result:</a:t>
            </a: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 NOT normal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5"/>
          <p:cNvSpPr/>
          <p:nvPr/>
        </p:nvSpPr>
        <p:spPr>
          <a:xfrm>
            <a:off x="3238560" y="828720"/>
            <a:ext cx="2666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Normality Tests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5" name="Image 2" descr="preencoded.png"/>
          <p:cNvPicPr/>
          <p:nvPr/>
        </p:nvPicPr>
        <p:blipFill>
          <a:blip r:embed="rId3"/>
          <a:stretch/>
        </p:blipFill>
        <p:spPr>
          <a:xfrm>
            <a:off x="3238560" y="1178640"/>
            <a:ext cx="2666520" cy="128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6" name="Text 6"/>
          <p:cNvSpPr/>
          <p:nvPr/>
        </p:nvSpPr>
        <p:spPr>
          <a:xfrm>
            <a:off x="3238560" y="2536200"/>
            <a:ext cx="26665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Shapiro-Wilk: p ≪ 0.05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7"/>
          <p:cNvSpPr/>
          <p:nvPr/>
        </p:nvSpPr>
        <p:spPr>
          <a:xfrm>
            <a:off x="3238560" y="2818800"/>
            <a:ext cx="26665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K-S test: p ≪ 0.05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8"/>
          <p:cNvSpPr/>
          <p:nvPr/>
        </p:nvSpPr>
        <p:spPr>
          <a:xfrm>
            <a:off x="3238560" y="3101760"/>
            <a:ext cx="26665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Result:</a:t>
            </a: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 Reject normality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9"/>
          <p:cNvSpPr/>
          <p:nvPr/>
        </p:nvSpPr>
        <p:spPr>
          <a:xfrm>
            <a:off x="6048360" y="828720"/>
            <a:ext cx="2666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Log Transform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0" name="Image 3" descr="preencoded.png"/>
          <p:cNvPicPr/>
          <p:nvPr/>
        </p:nvPicPr>
        <p:blipFill>
          <a:blip r:embed="rId4"/>
          <a:stretch/>
        </p:blipFill>
        <p:spPr>
          <a:xfrm>
            <a:off x="6048360" y="1178640"/>
            <a:ext cx="2666520" cy="128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1" name="Text 10"/>
          <p:cNvSpPr/>
          <p:nvPr/>
        </p:nvSpPr>
        <p:spPr>
          <a:xfrm>
            <a:off x="6048360" y="2536200"/>
            <a:ext cx="26665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Applied log(salary)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1"/>
          <p:cNvSpPr/>
          <p:nvPr/>
        </p:nvSpPr>
        <p:spPr>
          <a:xfrm>
            <a:off x="6048360" y="2818800"/>
            <a:ext cx="26665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Becomes normal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2"/>
          <p:cNvSpPr/>
          <p:nvPr/>
        </p:nvSpPr>
        <p:spPr>
          <a:xfrm>
            <a:off x="6048360" y="3101760"/>
            <a:ext cx="26665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Result:</a:t>
            </a: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 Log-normal distribution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3"/>
          <p:cNvSpPr/>
          <p:nvPr/>
        </p:nvSpPr>
        <p:spPr>
          <a:xfrm>
            <a:off x="428760" y="3839040"/>
            <a:ext cx="828648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Practical Implications: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4"/>
          <p:cNvSpPr/>
          <p:nvPr/>
        </p:nvSpPr>
        <p:spPr>
          <a:xfrm>
            <a:off x="428760" y="4174920"/>
            <a:ext cx="828648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Multiplicative growth processes in salary determination. Justifies log-transformation in regression modeling.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Text 0"/>
          <p:cNvSpPr/>
          <p:nvPr/>
        </p:nvSpPr>
        <p:spPr>
          <a:xfrm>
            <a:off x="428760" y="357120"/>
            <a:ext cx="8286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ANOVA Confirms Significant Salary Differences</a:t>
            </a:r>
            <a:endParaRPr b="0" lang="en-GB" sz="2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"/>
          <p:cNvSpPr/>
          <p:nvPr/>
        </p:nvSpPr>
        <p:spPr>
          <a:xfrm>
            <a:off x="428760" y="828720"/>
            <a:ext cx="401796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Method: ANOVA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2"/>
          <p:cNvSpPr/>
          <p:nvPr/>
        </p:nvSpPr>
        <p:spPr>
          <a:xfrm>
            <a:off x="428760" y="1165680"/>
            <a:ext cx="401796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Compares means of three or more independent groups. Suitable for categorical variable with 3 groups.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3"/>
          <p:cNvSpPr/>
          <p:nvPr/>
        </p:nvSpPr>
        <p:spPr>
          <a:xfrm>
            <a:off x="428760" y="1957320"/>
            <a:ext cx="401796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Hypotheses: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4"/>
          <p:cNvSpPr/>
          <p:nvPr/>
        </p:nvSpPr>
        <p:spPr>
          <a:xfrm>
            <a:off x="535680" y="2294640"/>
            <a:ext cx="391068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H₀:</a:t>
            </a: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 Mean salary same across all remote ratios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5"/>
          <p:cNvSpPr/>
          <p:nvPr/>
        </p:nvSpPr>
        <p:spPr>
          <a:xfrm>
            <a:off x="535680" y="2577240"/>
            <a:ext cx="391068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H₁:</a:t>
            </a: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 At least one ratio has different mean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6"/>
          <p:cNvSpPr/>
          <p:nvPr/>
        </p:nvSpPr>
        <p:spPr>
          <a:xfrm>
            <a:off x="535680" y="2860200"/>
            <a:ext cx="391068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Significance: </a:t>
            </a:r>
            <a:r>
              <a:rPr b="1" lang="en-US" sz="120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α = 0.05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7"/>
          <p:cNvSpPr/>
          <p:nvPr/>
        </p:nvSpPr>
        <p:spPr>
          <a:xfrm>
            <a:off x="428760" y="3264480"/>
            <a:ext cx="401796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Results: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8"/>
          <p:cNvSpPr/>
          <p:nvPr/>
        </p:nvSpPr>
        <p:spPr>
          <a:xfrm>
            <a:off x="428760" y="3601800"/>
            <a:ext cx="401796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p-value: </a:t>
            </a:r>
            <a:r>
              <a:rPr b="1" lang="en-US" sz="120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~1.22 × 10⁻⁸⁶ ≪ 0.05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9"/>
          <p:cNvSpPr/>
          <p:nvPr/>
        </p:nvSpPr>
        <p:spPr>
          <a:xfrm>
            <a:off x="428760" y="3898800"/>
            <a:ext cx="401796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Decision: Reject H₀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0"/>
          <p:cNvSpPr/>
          <p:nvPr/>
        </p:nvSpPr>
        <p:spPr>
          <a:xfrm>
            <a:off x="428760" y="4215960"/>
            <a:ext cx="401796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Statistically significant difference exists across remote work categories.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8" name="Image 1" descr="preencoded.png"/>
          <p:cNvPicPr/>
          <p:nvPr/>
        </p:nvPicPr>
        <p:blipFill>
          <a:blip r:embed="rId2"/>
          <a:stretch/>
        </p:blipFill>
        <p:spPr>
          <a:xfrm>
            <a:off x="4696920" y="828720"/>
            <a:ext cx="4017960" cy="4000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Text 0"/>
          <p:cNvSpPr/>
          <p:nvPr/>
        </p:nvSpPr>
        <p:spPr>
          <a:xfrm>
            <a:off x="428760" y="357120"/>
            <a:ext cx="8286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Remote Work Reflects Post-COVID Evolution</a:t>
            </a:r>
            <a:endParaRPr b="0" lang="en-GB" sz="2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"/>
          <p:cNvSpPr/>
          <p:nvPr/>
        </p:nvSpPr>
        <p:spPr>
          <a:xfrm>
            <a:off x="428760" y="828720"/>
            <a:ext cx="82864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Key Observations: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2"/>
          <p:cNvSpPr/>
          <p:nvPr/>
        </p:nvSpPr>
        <p:spPr>
          <a:xfrm>
            <a:off x="428760" y="1185840"/>
            <a:ext cx="828648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Hybrid work shows lower compensation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3"/>
          <p:cNvSpPr/>
          <p:nvPr/>
        </p:nvSpPr>
        <p:spPr>
          <a:xfrm>
            <a:off x="428760" y="1468800"/>
            <a:ext cx="828648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Fully remote and on-site offer comparable levels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4"/>
          <p:cNvSpPr/>
          <p:nvPr/>
        </p:nvSpPr>
        <p:spPr>
          <a:xfrm>
            <a:off x="428760" y="1751760"/>
            <a:ext cx="828648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Data spans 2020-2024 (COVID-19 impact period)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5"/>
          <p:cNvSpPr/>
          <p:nvPr/>
        </p:nvSpPr>
        <p:spPr>
          <a:xfrm>
            <a:off x="428760" y="2077200"/>
            <a:ext cx="82864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Practical Explanations: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6"/>
          <p:cNvSpPr/>
          <p:nvPr/>
        </p:nvSpPr>
        <p:spPr>
          <a:xfrm>
            <a:off x="428760" y="2505960"/>
            <a:ext cx="403596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1. Increased Demand: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7"/>
          <p:cNvSpPr/>
          <p:nvPr/>
        </p:nvSpPr>
        <p:spPr>
          <a:xfrm>
            <a:off x="535680" y="2827440"/>
            <a:ext cx="392868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COVID-19 accelerated remote work adoption globally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8"/>
          <p:cNvSpPr/>
          <p:nvPr/>
        </p:nvSpPr>
        <p:spPr>
          <a:xfrm>
            <a:off x="428760" y="3364560"/>
            <a:ext cx="403596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2. Employee Preferences: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9"/>
          <p:cNvSpPr/>
          <p:nvPr/>
        </p:nvSpPr>
        <p:spPr>
          <a:xfrm>
            <a:off x="535680" y="3686040"/>
            <a:ext cx="392868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Flexibility and work-life balance increasingly valued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0"/>
          <p:cNvSpPr/>
          <p:nvPr/>
        </p:nvSpPr>
        <p:spPr>
          <a:xfrm>
            <a:off x="4679280" y="2505960"/>
            <a:ext cx="403596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3. Technology Infrastructure: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1"/>
          <p:cNvSpPr/>
          <p:nvPr/>
        </p:nvSpPr>
        <p:spPr>
          <a:xfrm>
            <a:off x="4786200" y="2827440"/>
            <a:ext cx="392868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Cloud platforms enable productivity from anywhere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2"/>
          <p:cNvSpPr/>
          <p:nvPr/>
        </p:nvSpPr>
        <p:spPr>
          <a:xfrm>
            <a:off x="4679280" y="3486240"/>
            <a:ext cx="403596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Conclusion: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3"/>
          <p:cNvSpPr/>
          <p:nvPr/>
        </p:nvSpPr>
        <p:spPr>
          <a:xfrm>
            <a:off x="4679280" y="3807360"/>
            <a:ext cx="403596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Remote work's growing importance confirmed in AI/ML/Data Science roles.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Text 0"/>
          <p:cNvSpPr/>
          <p:nvPr/>
        </p:nvSpPr>
        <p:spPr>
          <a:xfrm>
            <a:off x="428760" y="357120"/>
            <a:ext cx="8286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Experience Level Shows Strongest Correlation</a:t>
            </a:r>
            <a:endParaRPr b="0" lang="en-GB" sz="2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"/>
          <p:cNvSpPr/>
          <p:nvPr/>
        </p:nvSpPr>
        <p:spPr>
          <a:xfrm>
            <a:off x="428760" y="843120"/>
            <a:ext cx="361620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Method: Spearman ρ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2"/>
          <p:cNvSpPr/>
          <p:nvPr/>
        </p:nvSpPr>
        <p:spPr>
          <a:xfrm>
            <a:off x="428760" y="1180080"/>
            <a:ext cx="361620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Measures monotonic relationships. Robust to outliers. Range: ρ ∈ [-1, 1]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3"/>
          <p:cNvSpPr/>
          <p:nvPr/>
        </p:nvSpPr>
        <p:spPr>
          <a:xfrm>
            <a:off x="428760" y="1731600"/>
            <a:ext cx="361620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Results: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4"/>
          <p:cNvSpPr/>
          <p:nvPr/>
        </p:nvSpPr>
        <p:spPr>
          <a:xfrm>
            <a:off x="428760" y="2068920"/>
            <a:ext cx="361620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Experience Level:</a:t>
            </a:r>
            <a:r>
              <a:rPr b="1" lang="en-US" sz="120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ρ ≈ 0.5-0.6</a:t>
            </a: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 (strong positive)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5"/>
          <p:cNvSpPr/>
          <p:nvPr/>
        </p:nvSpPr>
        <p:spPr>
          <a:xfrm>
            <a:off x="428760" y="2606040"/>
            <a:ext cx="361620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Work Year:</a:t>
            </a: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 ρ ≈ 0.1-0.2 (weak positive)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6"/>
          <p:cNvSpPr/>
          <p:nvPr/>
        </p:nvSpPr>
        <p:spPr>
          <a:xfrm>
            <a:off x="428760" y="2903040"/>
            <a:ext cx="361620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Remote Ratio:</a:t>
            </a: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 ρ ≈ 0 (no monotonic relationship)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7"/>
          <p:cNvSpPr/>
          <p:nvPr/>
        </p:nvSpPr>
        <p:spPr>
          <a:xfrm>
            <a:off x="428760" y="3440160"/>
            <a:ext cx="361620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Company Size:</a:t>
            </a: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 ρ ≈ 0 (no monotonic relationship)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8"/>
          <p:cNvSpPr/>
          <p:nvPr/>
        </p:nvSpPr>
        <p:spPr>
          <a:xfrm>
            <a:off x="428760" y="4006080"/>
            <a:ext cx="361620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Experience level is the dominant factor correlating with salary.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4" name="Image 1" descr="preencoded.png"/>
          <p:cNvPicPr/>
          <p:nvPr/>
        </p:nvPicPr>
        <p:blipFill>
          <a:blip r:embed="rId2"/>
          <a:stretch/>
        </p:blipFill>
        <p:spPr>
          <a:xfrm>
            <a:off x="4295160" y="843120"/>
            <a:ext cx="4419720" cy="185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5" name="Image 2" descr="preencoded.png"/>
          <p:cNvPicPr/>
          <p:nvPr/>
        </p:nvPicPr>
        <p:blipFill>
          <a:blip r:embed="rId3"/>
          <a:stretch/>
        </p:blipFill>
        <p:spPr>
          <a:xfrm>
            <a:off x="4295160" y="2828880"/>
            <a:ext cx="4419720" cy="1856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Text 0"/>
          <p:cNvSpPr/>
          <p:nvPr/>
        </p:nvSpPr>
        <p:spPr>
          <a:xfrm>
            <a:off x="428760" y="357120"/>
            <a:ext cx="8286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Visual Confirmation of Correlation Patterns</a:t>
            </a:r>
            <a:endParaRPr b="0" lang="en-GB" sz="2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"/>
          <p:cNvSpPr/>
          <p:nvPr/>
        </p:nvSpPr>
        <p:spPr>
          <a:xfrm>
            <a:off x="428760" y="828720"/>
            <a:ext cx="405720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Heatmap Analysis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9" name="Image 1" descr="preencoded.png"/>
          <p:cNvPicPr/>
          <p:nvPr/>
        </p:nvPicPr>
        <p:blipFill>
          <a:blip r:embed="rId2"/>
          <a:stretch/>
        </p:blipFill>
        <p:spPr>
          <a:xfrm>
            <a:off x="428760" y="1171440"/>
            <a:ext cx="4057200" cy="228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" name="Text 2"/>
          <p:cNvSpPr/>
          <p:nvPr/>
        </p:nvSpPr>
        <p:spPr>
          <a:xfrm>
            <a:off x="428760" y="3500280"/>
            <a:ext cx="405720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Experience level dominates. Remote ratio and company size show minimal correlation.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3"/>
          <p:cNvSpPr/>
          <p:nvPr/>
        </p:nvSpPr>
        <p:spPr>
          <a:xfrm>
            <a:off x="4657680" y="828720"/>
            <a:ext cx="405720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Boxplots with Regression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2" name="Image 2" descr="preencoded.png"/>
          <p:cNvPicPr/>
          <p:nvPr/>
        </p:nvPicPr>
        <p:blipFill>
          <a:blip r:embed="rId3"/>
          <a:stretch/>
        </p:blipFill>
        <p:spPr>
          <a:xfrm>
            <a:off x="4657680" y="1171440"/>
            <a:ext cx="4057200" cy="228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3" name="Text 4"/>
          <p:cNvSpPr/>
          <p:nvPr/>
        </p:nvSpPr>
        <p:spPr>
          <a:xfrm>
            <a:off x="4657680" y="3500280"/>
            <a:ext cx="405720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Clear upward trend from Entry to Executive. Regression line confirms positive relationship.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5"/>
          <p:cNvSpPr/>
          <p:nvPr/>
        </p:nvSpPr>
        <p:spPr>
          <a:xfrm>
            <a:off x="428760" y="4287600"/>
            <a:ext cx="82864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Validation: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6"/>
          <p:cNvSpPr/>
          <p:nvPr/>
        </p:nvSpPr>
        <p:spPr>
          <a:xfrm>
            <a:off x="428760" y="4644720"/>
            <a:ext cx="828648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Visual patterns align with Spearman correlation results. Experience level consistently emerges as the primary salary determinant across multiple analytical approaches.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Text 0"/>
          <p:cNvSpPr/>
          <p:nvPr/>
        </p:nvSpPr>
        <p:spPr>
          <a:xfrm>
            <a:off x="428760" y="357120"/>
            <a:ext cx="8286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Multiple Linear Regression Achieves Moderate Fit</a:t>
            </a:r>
            <a:endParaRPr b="0" lang="en-GB" sz="2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"/>
          <p:cNvSpPr/>
          <p:nvPr/>
        </p:nvSpPr>
        <p:spPr>
          <a:xfrm>
            <a:off x="428760" y="828720"/>
            <a:ext cx="38743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Model Setup: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2"/>
          <p:cNvSpPr/>
          <p:nvPr/>
        </p:nvSpPr>
        <p:spPr>
          <a:xfrm>
            <a:off x="428760" y="1165680"/>
            <a:ext cx="38743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Target: log(salary_in_usd)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3"/>
          <p:cNvSpPr/>
          <p:nvPr/>
        </p:nvSpPr>
        <p:spPr>
          <a:xfrm>
            <a:off x="428760" y="1448640"/>
            <a:ext cx="387432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Predictors: experience_level, work_year, remote_ratio, company_size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4"/>
          <p:cNvSpPr/>
          <p:nvPr/>
        </p:nvSpPr>
        <p:spPr>
          <a:xfrm>
            <a:off x="428760" y="1971720"/>
            <a:ext cx="38743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Train-test split: 80%-20%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5"/>
          <p:cNvSpPr/>
          <p:nvPr/>
        </p:nvSpPr>
        <p:spPr>
          <a:xfrm>
            <a:off x="428760" y="2283120"/>
            <a:ext cx="38743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Preprocessing: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6"/>
          <p:cNvSpPr/>
          <p:nvPr/>
        </p:nvSpPr>
        <p:spPr>
          <a:xfrm>
            <a:off x="428760" y="2620080"/>
            <a:ext cx="38743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Ordinal encoding for ranked features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7"/>
          <p:cNvSpPr/>
          <p:nvPr/>
        </p:nvSpPr>
        <p:spPr>
          <a:xfrm>
            <a:off x="428760" y="2903040"/>
            <a:ext cx="38743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• One-hot encoding for nominal features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8"/>
          <p:cNvSpPr/>
          <p:nvPr/>
        </p:nvSpPr>
        <p:spPr>
          <a:xfrm>
            <a:off x="428760" y="3307320"/>
            <a:ext cx="38743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Evaluation Metrics:</a:t>
            </a:r>
            <a:endParaRPr b="0" lang="en-GB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9"/>
          <p:cNvSpPr/>
          <p:nvPr/>
        </p:nvSpPr>
        <p:spPr>
          <a:xfrm>
            <a:off x="428760" y="3644640"/>
            <a:ext cx="1514160" cy="2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R²: </a:t>
            </a:r>
            <a:r>
              <a:rPr b="1" lang="en-US" sz="120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~0.32</a:t>
            </a: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 (moderate fit)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0"/>
          <p:cNvSpPr/>
          <p:nvPr/>
        </p:nvSpPr>
        <p:spPr>
          <a:xfrm>
            <a:off x="428760" y="3927600"/>
            <a:ext cx="387432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RMSE:</a:t>
            </a: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 Lower on test than train (good generalization)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1"/>
          <p:cNvSpPr/>
          <p:nvPr/>
        </p:nvSpPr>
        <p:spPr>
          <a:xfrm>
            <a:off x="428760" y="4479120"/>
            <a:ext cx="387432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i="1" lang="en-US" sz="127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Limitation: Other factors (job title, location) also influence salary but not included.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9" name="" descr=""/>
          <p:cNvPicPr/>
          <p:nvPr/>
        </p:nvPicPr>
        <p:blipFill>
          <a:blip r:embed="rId2"/>
          <a:stretch/>
        </p:blipFill>
        <p:spPr>
          <a:xfrm>
            <a:off x="4490640" y="1620000"/>
            <a:ext cx="4329720" cy="23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Text 0"/>
          <p:cNvSpPr/>
          <p:nvPr/>
        </p:nvSpPr>
        <p:spPr>
          <a:xfrm>
            <a:off x="428760" y="357120"/>
            <a:ext cx="8286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Key Findings Summary</a:t>
            </a:r>
            <a:endParaRPr b="0" lang="en-GB" sz="2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"/>
          <p:cNvSpPr/>
          <p:nvPr/>
        </p:nvSpPr>
        <p:spPr>
          <a:xfrm>
            <a:off x="607320" y="914400"/>
            <a:ext cx="377856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1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2"/>
          <p:cNvSpPr/>
          <p:nvPr/>
        </p:nvSpPr>
        <p:spPr>
          <a:xfrm>
            <a:off x="607320" y="1300320"/>
            <a:ext cx="3778560" cy="24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Experience Level Dominates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3"/>
          <p:cNvSpPr/>
          <p:nvPr/>
        </p:nvSpPr>
        <p:spPr>
          <a:xfrm>
            <a:off x="607320" y="1584360"/>
            <a:ext cx="377856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Strongest predictor of salary (ρ ≈ 0.5-0.6). Clear progression from Entry to Executive.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4"/>
          <p:cNvSpPr/>
          <p:nvPr/>
        </p:nvSpPr>
        <p:spPr>
          <a:xfrm>
            <a:off x="4793400" y="914400"/>
            <a:ext cx="377856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2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5"/>
          <p:cNvSpPr/>
          <p:nvPr/>
        </p:nvSpPr>
        <p:spPr>
          <a:xfrm>
            <a:off x="4793400" y="1300320"/>
            <a:ext cx="3778560" cy="24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Hybrid Work Paradox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6"/>
          <p:cNvSpPr/>
          <p:nvPr/>
        </p:nvSpPr>
        <p:spPr>
          <a:xfrm>
            <a:off x="4793400" y="1584360"/>
            <a:ext cx="377856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Hybrid shows lower salaries than on-site or fully remote. V-shaped pattern confirmed by ANOVA.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7"/>
          <p:cNvSpPr/>
          <p:nvPr/>
        </p:nvSpPr>
        <p:spPr>
          <a:xfrm>
            <a:off x="607320" y="2461680"/>
            <a:ext cx="377856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3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8"/>
          <p:cNvSpPr/>
          <p:nvPr/>
        </p:nvSpPr>
        <p:spPr>
          <a:xfrm>
            <a:off x="607320" y="2847600"/>
            <a:ext cx="3778560" cy="24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Additional Factors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9"/>
          <p:cNvSpPr/>
          <p:nvPr/>
        </p:nvSpPr>
        <p:spPr>
          <a:xfrm>
            <a:off x="607320" y="3131640"/>
            <a:ext cx="377856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Work year, company size show weak correlation. Job title and location not analyzed but likely influential.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0"/>
          <p:cNvSpPr/>
          <p:nvPr/>
        </p:nvSpPr>
        <p:spPr>
          <a:xfrm>
            <a:off x="4793400" y="2461680"/>
            <a:ext cx="377856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4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1"/>
          <p:cNvSpPr/>
          <p:nvPr/>
        </p:nvSpPr>
        <p:spPr>
          <a:xfrm>
            <a:off x="4793400" y="2847600"/>
            <a:ext cx="3778560" cy="24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Distribution Characteristics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2"/>
          <p:cNvSpPr/>
          <p:nvPr/>
        </p:nvSpPr>
        <p:spPr>
          <a:xfrm>
            <a:off x="4793400" y="3131640"/>
            <a:ext cx="377856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Right-skewed, log-normal distribution. Median ($141k) more representative than mean ($153k).</a:t>
            </a:r>
            <a:endParaRPr b="0" lang="en-GB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3"/>
          <p:cNvSpPr/>
          <p:nvPr/>
        </p:nvSpPr>
        <p:spPr>
          <a:xfrm>
            <a:off x="428760" y="4130280"/>
            <a:ext cx="8286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Overall Conclusion: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4"/>
          <p:cNvSpPr/>
          <p:nvPr/>
        </p:nvSpPr>
        <p:spPr>
          <a:xfrm>
            <a:off x="428760" y="4544640"/>
            <a:ext cx="8286480" cy="5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c3e50"/>
                </a:solidFill>
                <a:effectLst/>
                <a:uFillTx/>
                <a:latin typeface="Calibri"/>
              </a:rPr>
              <a:t>Experience level is the primary salary driver. Remote work impact is nuanced and context-dependent.</a:t>
            </a:r>
            <a:endParaRPr b="0" lang="en-GB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7" name="Text 0"/>
          <p:cNvSpPr/>
          <p:nvPr/>
        </p:nvSpPr>
        <p:spPr>
          <a:xfrm>
            <a:off x="571680" y="2091600"/>
            <a:ext cx="800064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01"/>
              </a:lnSpc>
              <a:tabLst>
                <a:tab algn="l" pos="0"/>
              </a:tabLst>
            </a:pPr>
            <a:r>
              <a:rPr b="1" lang="en-US" sz="2430" spc="3" strike="noStrike" u="none">
                <a:solidFill>
                  <a:srgbClr val="1a5490"/>
                </a:solidFill>
                <a:effectLst/>
                <a:uFillTx/>
                <a:latin typeface="Calibri"/>
              </a:rPr>
              <a:t>THANKS FOR YOUR READING AND LISTENING</a:t>
            </a:r>
            <a:endParaRPr b="0" lang="en-GB" sz="24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LibreOffice/25.8.3.2$Linux_X86_64 LibreOffice_project/580$Build-2</Application>
  <AppVersion>15.0000</AppVersion>
  <Words>1511</Words>
  <Paragraphs>253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2025-11-22T10:10:53Z</dcterms:created>
  <dc:creator>PptxGenJS</dc:creator>
  <dc:description/>
  <dc:language>en-GB</dc:language>
  <cp:lastModifiedBy/>
  <dcterms:modified xsi:type="dcterms:W3CDTF">2025-11-24T19:22:57Z</dcterms:modified>
  <cp:revision>3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20</vt:i4>
  </property>
  <property fmtid="{D5CDD505-2E9C-101B-9397-08002B2CF9AE}" pid="3" name="PresentationFormat">
    <vt:lpwstr>On-screen Show (16:9)</vt:lpwstr>
  </property>
  <property fmtid="{D5CDD505-2E9C-101B-9397-08002B2CF9AE}" pid="4" name="Slides">
    <vt:i4>20</vt:i4>
  </property>
</Properties>
</file>